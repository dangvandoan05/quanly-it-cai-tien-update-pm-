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99" r:id="rId2"/>
    <p:sldId id="318" r:id="rId3"/>
    <p:sldId id="319" r:id="rId4"/>
    <p:sldId id="331" r:id="rId5"/>
    <p:sldId id="332" r:id="rId6"/>
    <p:sldId id="333" r:id="rId7"/>
    <p:sldId id="326" r:id="rId8"/>
    <p:sldId id="329" r:id="rId9"/>
    <p:sldId id="330" r:id="rId10"/>
    <p:sldId id="327" r:id="rId11"/>
    <p:sldId id="328" r:id="rId12"/>
    <p:sldId id="320" r:id="rId13"/>
    <p:sldId id="321" r:id="rId14"/>
    <p:sldId id="322" r:id="rId15"/>
    <p:sldId id="323" r:id="rId16"/>
    <p:sldId id="324" r:id="rId17"/>
    <p:sldId id="325" r:id="rId18"/>
    <p:sldId id="303" r:id="rId19"/>
  </p:sldIdLst>
  <p:sldSz cx="9144000" cy="6858000" type="screen4x3"/>
  <p:notesSz cx="7102475" cy="93884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p15:clr>
            <a:srgbClr val="A4A3A4"/>
          </p15:clr>
        </p15:guide>
        <p15:guide id="2" pos="2913">
          <p15:clr>
            <a:srgbClr val="A4A3A4"/>
          </p15:clr>
        </p15:guide>
      </p15:sldGuideLst>
    </p:ext>
    <p:ext uri="{2D200454-40CA-4A62-9FC3-DE9A4176ACB9}">
      <p15:notesGuideLst xmlns:p15="http://schemas.microsoft.com/office/powerpoint/2012/main">
        <p15:guide id="1" orient="horz" pos="2918">
          <p15:clr>
            <a:srgbClr val="A4A3A4"/>
          </p15:clr>
        </p15:guide>
        <p15:guide id="2" pos="226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9900"/>
    <a:srgbClr val="FFCC00"/>
    <a:srgbClr val="FF9933"/>
    <a:srgbClr val="FF3399"/>
    <a:srgbClr val="FF0066"/>
    <a:srgbClr val="0945A5"/>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5" autoAdjust="0"/>
    <p:restoredTop sz="92634" autoAdjust="0"/>
  </p:normalViewPr>
  <p:slideViewPr>
    <p:cSldViewPr>
      <p:cViewPr varScale="1">
        <p:scale>
          <a:sx n="103" d="100"/>
          <a:sy n="103" d="100"/>
        </p:scale>
        <p:origin x="1734" y="114"/>
      </p:cViewPr>
      <p:guideLst>
        <p:guide orient="horz" pos="2132"/>
        <p:guide pos="2913"/>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5" d="100"/>
          <a:sy n="85" d="100"/>
        </p:scale>
        <p:origin x="3042" y="78"/>
      </p:cViewPr>
      <p:guideLst>
        <p:guide orient="horz" pos="2918"/>
        <p:guide pos="226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7740" cy="469424"/>
          </a:xfrm>
          <a:prstGeom prst="rect">
            <a:avLst/>
          </a:prstGeom>
        </p:spPr>
        <p:txBody>
          <a:bodyPr vert="horz" lIns="96661" tIns="48331" rIns="96661" bIns="48331"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092" y="0"/>
            <a:ext cx="3077740" cy="469424"/>
          </a:xfrm>
          <a:prstGeom prst="rect">
            <a:avLst/>
          </a:prstGeom>
        </p:spPr>
        <p:txBody>
          <a:bodyPr vert="horz" lIns="96661" tIns="48331" rIns="96661" bIns="48331" rtlCol="0"/>
          <a:lstStyle>
            <a:lvl1pPr algn="r">
              <a:defRPr sz="1300"/>
            </a:lvl1pPr>
          </a:lstStyle>
          <a:p>
            <a:fld id="{90A0901D-24EB-4187-8DCE-5D7970DC9701}" type="datetimeFigureOut">
              <a:rPr kumimoji="1" lang="ja-JP" altLang="en-US" smtClean="0"/>
              <a:pPr/>
              <a:t>2025/10/23</a:t>
            </a:fld>
            <a:endParaRPr kumimoji="1" lang="ja-JP" altLang="en-US"/>
          </a:p>
        </p:txBody>
      </p:sp>
      <p:sp>
        <p:nvSpPr>
          <p:cNvPr id="4" name="スライド イメージ プレースホルダー 3"/>
          <p:cNvSpPr>
            <a:spLocks noGrp="1" noRot="1" noChangeAspect="1"/>
          </p:cNvSpPr>
          <p:nvPr>
            <p:ph type="sldImg" idx="2"/>
          </p:nvPr>
        </p:nvSpPr>
        <p:spPr>
          <a:xfrm>
            <a:off x="1203325" y="704850"/>
            <a:ext cx="4695825" cy="3521075"/>
          </a:xfrm>
          <a:prstGeom prst="rect">
            <a:avLst/>
          </a:prstGeom>
          <a:noFill/>
          <a:ln w="12700">
            <a:solidFill>
              <a:prstClr val="black"/>
            </a:solidFill>
          </a:ln>
        </p:spPr>
        <p:txBody>
          <a:bodyPr vert="horz" lIns="96661" tIns="48331" rIns="96661" bIns="48331" rtlCol="0" anchor="ctr"/>
          <a:lstStyle/>
          <a:p>
            <a:endParaRPr lang="ja-JP" altLang="en-US"/>
          </a:p>
        </p:txBody>
      </p:sp>
      <p:sp>
        <p:nvSpPr>
          <p:cNvPr id="5" name="ノート プレースホルダー 4"/>
          <p:cNvSpPr>
            <a:spLocks noGrp="1"/>
          </p:cNvSpPr>
          <p:nvPr>
            <p:ph type="body" sz="quarter" idx="3"/>
          </p:nvPr>
        </p:nvSpPr>
        <p:spPr>
          <a:xfrm>
            <a:off x="710248" y="4459526"/>
            <a:ext cx="5681980" cy="4224814"/>
          </a:xfrm>
          <a:prstGeom prst="rect">
            <a:avLst/>
          </a:prstGeom>
        </p:spPr>
        <p:txBody>
          <a:bodyPr vert="horz" lIns="96661" tIns="48331" rIns="96661" bIns="48331"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917422"/>
            <a:ext cx="3077740" cy="469424"/>
          </a:xfrm>
          <a:prstGeom prst="rect">
            <a:avLst/>
          </a:prstGeom>
        </p:spPr>
        <p:txBody>
          <a:bodyPr vert="horz" lIns="96661" tIns="48331" rIns="96661" bIns="48331"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092" y="8917422"/>
            <a:ext cx="3077740" cy="469424"/>
          </a:xfrm>
          <a:prstGeom prst="rect">
            <a:avLst/>
          </a:prstGeom>
        </p:spPr>
        <p:txBody>
          <a:bodyPr vert="horz" lIns="96661" tIns="48331" rIns="96661" bIns="48331" rtlCol="0" anchor="b"/>
          <a:lstStyle>
            <a:lvl1pPr algn="r">
              <a:defRPr sz="1300"/>
            </a:lvl1pPr>
          </a:lstStyle>
          <a:p>
            <a:fld id="{90A3BDCA-6087-4642-B128-7FBC3DE52056}" type="slidenum">
              <a:rPr kumimoji="1" lang="ja-JP" altLang="en-US" smtClean="0"/>
              <a:pPr/>
              <a:t>‹#›</a:t>
            </a:fld>
            <a:endParaRPr kumimoji="1" lang="ja-JP" altLang="en-US"/>
          </a:p>
        </p:txBody>
      </p:sp>
    </p:spTree>
    <p:extLst>
      <p:ext uri="{BB962C8B-B14F-4D97-AF65-F5344CB8AC3E}">
        <p14:creationId xmlns:p14="http://schemas.microsoft.com/office/powerpoint/2010/main" val="32365568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2</a:t>
            </a:fld>
            <a:endParaRPr kumimoji="1" lang="ja-JP" altLang="en-US"/>
          </a:p>
        </p:txBody>
      </p:sp>
    </p:spTree>
    <p:extLst>
      <p:ext uri="{BB962C8B-B14F-4D97-AF65-F5344CB8AC3E}">
        <p14:creationId xmlns:p14="http://schemas.microsoft.com/office/powerpoint/2010/main" val="2012890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3</a:t>
            </a:fld>
            <a:endParaRPr kumimoji="1" lang="ja-JP" altLang="en-US"/>
          </a:p>
        </p:txBody>
      </p:sp>
    </p:spTree>
    <p:extLst>
      <p:ext uri="{BB962C8B-B14F-4D97-AF65-F5344CB8AC3E}">
        <p14:creationId xmlns:p14="http://schemas.microsoft.com/office/powerpoint/2010/main" val="2620624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4</a:t>
            </a:fld>
            <a:endParaRPr kumimoji="1" lang="ja-JP" altLang="en-US"/>
          </a:p>
        </p:txBody>
      </p:sp>
    </p:spTree>
    <p:extLst>
      <p:ext uri="{BB962C8B-B14F-4D97-AF65-F5344CB8AC3E}">
        <p14:creationId xmlns:p14="http://schemas.microsoft.com/office/powerpoint/2010/main" val="2935102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5</a:t>
            </a:fld>
            <a:endParaRPr kumimoji="1" lang="ja-JP" altLang="en-US"/>
          </a:p>
        </p:txBody>
      </p:sp>
    </p:spTree>
    <p:extLst>
      <p:ext uri="{BB962C8B-B14F-4D97-AF65-F5344CB8AC3E}">
        <p14:creationId xmlns:p14="http://schemas.microsoft.com/office/powerpoint/2010/main" val="2317000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6</a:t>
            </a:fld>
            <a:endParaRPr kumimoji="1" lang="ja-JP" altLang="en-US"/>
          </a:p>
        </p:txBody>
      </p:sp>
    </p:spTree>
    <p:extLst>
      <p:ext uri="{BB962C8B-B14F-4D97-AF65-F5344CB8AC3E}">
        <p14:creationId xmlns:p14="http://schemas.microsoft.com/office/powerpoint/2010/main" val="4067827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7</a:t>
            </a:fld>
            <a:endParaRPr kumimoji="1" lang="ja-JP" altLang="en-US"/>
          </a:p>
        </p:txBody>
      </p:sp>
    </p:spTree>
    <p:extLst>
      <p:ext uri="{BB962C8B-B14F-4D97-AF65-F5344CB8AC3E}">
        <p14:creationId xmlns:p14="http://schemas.microsoft.com/office/powerpoint/2010/main" val="1667023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8</a:t>
            </a:fld>
            <a:endParaRPr kumimoji="1" lang="ja-JP" altLang="en-US"/>
          </a:p>
        </p:txBody>
      </p:sp>
    </p:spTree>
    <p:extLst>
      <p:ext uri="{BB962C8B-B14F-4D97-AF65-F5344CB8AC3E}">
        <p14:creationId xmlns:p14="http://schemas.microsoft.com/office/powerpoint/2010/main" val="3629269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9</a:t>
            </a:fld>
            <a:endParaRPr kumimoji="1" lang="ja-JP" altLang="en-US"/>
          </a:p>
        </p:txBody>
      </p:sp>
    </p:spTree>
    <p:extLst>
      <p:ext uri="{BB962C8B-B14F-4D97-AF65-F5344CB8AC3E}">
        <p14:creationId xmlns:p14="http://schemas.microsoft.com/office/powerpoint/2010/main" val="3487658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10</a:t>
            </a:fld>
            <a:endParaRPr kumimoji="1" lang="ja-JP" altLang="en-US"/>
          </a:p>
        </p:txBody>
      </p:sp>
    </p:spTree>
    <p:extLst>
      <p:ext uri="{BB962C8B-B14F-4D97-AF65-F5344CB8AC3E}">
        <p14:creationId xmlns:p14="http://schemas.microsoft.com/office/powerpoint/2010/main" val="3705286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11</a:t>
            </a:fld>
            <a:endParaRPr kumimoji="1" lang="ja-JP" altLang="en-US"/>
          </a:p>
        </p:txBody>
      </p:sp>
    </p:spTree>
    <p:extLst>
      <p:ext uri="{BB962C8B-B14F-4D97-AF65-F5344CB8AC3E}">
        <p14:creationId xmlns:p14="http://schemas.microsoft.com/office/powerpoint/2010/main" val="3203212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12</a:t>
            </a:fld>
            <a:endParaRPr kumimoji="1" lang="ja-JP" altLang="en-US"/>
          </a:p>
        </p:txBody>
      </p:sp>
    </p:spTree>
    <p:extLst>
      <p:ext uri="{BB962C8B-B14F-4D97-AF65-F5344CB8AC3E}">
        <p14:creationId xmlns:p14="http://schemas.microsoft.com/office/powerpoint/2010/main" val="1676789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13</a:t>
            </a:fld>
            <a:endParaRPr kumimoji="1" lang="ja-JP" altLang="en-US"/>
          </a:p>
        </p:txBody>
      </p:sp>
    </p:spTree>
    <p:extLst>
      <p:ext uri="{BB962C8B-B14F-4D97-AF65-F5344CB8AC3E}">
        <p14:creationId xmlns:p14="http://schemas.microsoft.com/office/powerpoint/2010/main" val="3459768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14</a:t>
            </a:fld>
            <a:endParaRPr kumimoji="1" lang="ja-JP" altLang="en-US"/>
          </a:p>
        </p:txBody>
      </p:sp>
    </p:spTree>
    <p:extLst>
      <p:ext uri="{BB962C8B-B14F-4D97-AF65-F5344CB8AC3E}">
        <p14:creationId xmlns:p14="http://schemas.microsoft.com/office/powerpoint/2010/main" val="3463541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15</a:t>
            </a:fld>
            <a:endParaRPr kumimoji="1" lang="ja-JP" altLang="en-US"/>
          </a:p>
        </p:txBody>
      </p:sp>
    </p:spTree>
    <p:extLst>
      <p:ext uri="{BB962C8B-B14F-4D97-AF65-F5344CB8AC3E}">
        <p14:creationId xmlns:p14="http://schemas.microsoft.com/office/powerpoint/2010/main" val="3324588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16</a:t>
            </a:fld>
            <a:endParaRPr kumimoji="1" lang="ja-JP" altLang="en-US"/>
          </a:p>
        </p:txBody>
      </p:sp>
    </p:spTree>
    <p:extLst>
      <p:ext uri="{BB962C8B-B14F-4D97-AF65-F5344CB8AC3E}">
        <p14:creationId xmlns:p14="http://schemas.microsoft.com/office/powerpoint/2010/main" val="3308229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17</a:t>
            </a:fld>
            <a:endParaRPr kumimoji="1" lang="ja-JP" altLang="en-US"/>
          </a:p>
        </p:txBody>
      </p:sp>
    </p:spTree>
    <p:extLst>
      <p:ext uri="{BB962C8B-B14F-4D97-AF65-F5344CB8AC3E}">
        <p14:creationId xmlns:p14="http://schemas.microsoft.com/office/powerpoint/2010/main" val="41751013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Rectangle 3"/>
          <p:cNvSpPr/>
          <p:nvPr userDrawn="1"/>
        </p:nvSpPr>
        <p:spPr>
          <a:xfrm>
            <a:off x="0" y="6525344"/>
            <a:ext cx="9144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p:cNvSpPr>
            <a:spLocks noGrp="1"/>
          </p:cNvSpPr>
          <p:nvPr>
            <p:ph type="ctrTitle" hasCustomPrompt="1"/>
          </p:nvPr>
        </p:nvSpPr>
        <p:spPr>
          <a:xfrm>
            <a:off x="685800" y="2130425"/>
            <a:ext cx="7772400" cy="1470025"/>
          </a:xfrm>
          <a:prstGeom prst="rect">
            <a:avLst/>
          </a:prstGeom>
        </p:spPr>
        <p:txBody>
          <a:bodyPr>
            <a:normAutofit/>
          </a:bodyPr>
          <a:lstStyle>
            <a:lvl1pPr algn="ctr">
              <a:defRPr sz="3500">
                <a:solidFill>
                  <a:srgbClr val="002060"/>
                </a:solidFill>
                <a:latin typeface="Arial" panose="020B0604020202020204" pitchFamily="34" charset="0"/>
                <a:cs typeface="Arial" panose="020B0604020202020204" pitchFamily="34" charset="0"/>
              </a:defRPr>
            </a:lvl1pPr>
          </a:lstStyle>
          <a:p>
            <a:r>
              <a:rPr kumimoji="0" lang="en-US" dirty="0"/>
              <a:t>Click to edit Master title style</a:t>
            </a:r>
            <a:br>
              <a:rPr kumimoji="0" lang="en-US" dirty="0"/>
            </a:br>
            <a:r>
              <a:rPr kumimoji="0" lang="en-US" dirty="0" err="1"/>
              <a:t>abc</a:t>
            </a:r>
            <a:endParaRPr kumimoji="1" lang="ja-JP" altLang="en-US" dirty="0"/>
          </a:p>
        </p:txBody>
      </p:sp>
      <p:sp>
        <p:nvSpPr>
          <p:cNvPr id="3" name="サブタイトル 2"/>
          <p:cNvSpPr>
            <a:spLocks noGrp="1"/>
          </p:cNvSpPr>
          <p:nvPr>
            <p:ph type="subTitle" idx="1"/>
          </p:nvPr>
        </p:nvSpPr>
        <p:spPr>
          <a:xfrm>
            <a:off x="1371600" y="3886200"/>
            <a:ext cx="6400800" cy="1752600"/>
          </a:xfrm>
          <a:prstGeom prst="rect">
            <a:avLst/>
          </a:prstGeom>
        </p:spPr>
        <p:txBody>
          <a:bodyPr/>
          <a:lstStyle>
            <a:lvl1pPr marL="0" indent="0" algn="ctr">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dirty="0"/>
              <a:t>Click to edit Master subtitle style</a:t>
            </a:r>
          </a:p>
          <a:p>
            <a:r>
              <a:rPr kumimoji="0" lang="en-US" dirty="0" err="1"/>
              <a:t>abc</a:t>
            </a:r>
            <a:endParaRPr kumimoji="0" lang="en-US" dirty="0"/>
          </a:p>
        </p:txBody>
      </p:sp>
      <p:sp>
        <p:nvSpPr>
          <p:cNvPr id="6" name="スライド番号プレースホルダ 5"/>
          <p:cNvSpPr>
            <a:spLocks noGrp="1"/>
          </p:cNvSpPr>
          <p:nvPr>
            <p:ph type="sldNum" sz="quarter" idx="12"/>
          </p:nvPr>
        </p:nvSpPr>
        <p:spPr>
          <a:xfrm>
            <a:off x="3518520" y="6579132"/>
            <a:ext cx="2133600" cy="265509"/>
          </a:xfrm>
        </p:spPr>
        <p:txBody>
          <a:bodyPr/>
          <a:lstStyle/>
          <a:p>
            <a:fld id="{D2D8002D-B5B0-4BAC-B1F6-782DDCCE6D9C}" type="slidenum">
              <a:rPr kumimoji="1" lang="ja-JP" altLang="en-US" smtClean="0"/>
              <a:pPr/>
              <a:t>‹#›</a:t>
            </a:fld>
            <a:endParaRPr kumimoji="1" lang="ja-JP" altLang="en-US"/>
          </a:p>
        </p:txBody>
      </p:sp>
      <p:sp>
        <p:nvSpPr>
          <p:cNvPr id="13" name="スライド番号プレースホルダ 5"/>
          <p:cNvSpPr txBox="1"/>
          <p:nvPr userDrawn="1"/>
        </p:nvSpPr>
        <p:spPr>
          <a:xfrm>
            <a:off x="3518520" y="6565685"/>
            <a:ext cx="2133600" cy="265509"/>
          </a:xfrm>
          <a:prstGeom prst="rect">
            <a:avLst/>
          </a:prstGeom>
        </p:spPr>
        <p:txBody>
          <a:bodyPr vert="horz" lIns="91440" tIns="45720" rIns="91440" bIns="45720" rtlCol="0" anchor="ctr"/>
          <a:lstStyle>
            <a:defPPr>
              <a:defRPr lang="ja-JP"/>
            </a:defPPr>
            <a:lvl1pPr marL="0" algn="ctr" defTabSz="914400" rtl="0" eaLnBrk="1" latinLnBrk="0" hangingPunct="1">
              <a:defRPr kumimoji="1"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lang="ja-JP" altLang="en-US" smtClean="0"/>
              <a:pPr/>
              <a:t>‹#›</a:t>
            </a:fld>
            <a:endParaRPr lang="ja-JP" altLang="en-US"/>
          </a:p>
        </p:txBody>
      </p:sp>
      <p:sp>
        <p:nvSpPr>
          <p:cNvPr id="14" name="Rectangle 25"/>
          <p:cNvSpPr>
            <a:spLocks noChangeArrowheads="1"/>
          </p:cNvSpPr>
          <p:nvPr userDrawn="1"/>
        </p:nvSpPr>
        <p:spPr bwMode="auto">
          <a:xfrm>
            <a:off x="35496" y="6535470"/>
            <a:ext cx="2664296" cy="30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ja-JP" sz="800" b="1" dirty="0">
                <a:latin typeface="Arial" panose="020B0604020202020204" pitchFamily="34" charset="0"/>
                <a:ea typeface="Arial Unicode MS" pitchFamily="50" charset="-128"/>
                <a:cs typeface="Arial" panose="020B0604020202020204" pitchFamily="34" charset="0"/>
              </a:rPr>
              <a:t>Dong Duong Plastic</a:t>
            </a:r>
            <a:r>
              <a:rPr lang="en-US" altLang="ja-JP" sz="800" b="1" baseline="0" dirty="0">
                <a:latin typeface="Arial" panose="020B0604020202020204" pitchFamily="34" charset="0"/>
                <a:ea typeface="Arial Unicode MS" pitchFamily="50" charset="-128"/>
                <a:cs typeface="Arial" panose="020B0604020202020204" pitchFamily="34" charset="0"/>
              </a:rPr>
              <a:t> and Mechanical (2022)</a:t>
            </a:r>
            <a:endParaRPr lang="en-US" altLang="ja-JP" sz="800" b="1" dirty="0">
              <a:latin typeface="Arial" panose="020B0604020202020204" pitchFamily="34" charset="0"/>
              <a:ea typeface="Arial Unicode MS" pitchFamily="50" charset="-128"/>
              <a:cs typeface="Arial" panose="020B0604020202020204" pitchFamily="34" charset="0"/>
            </a:endParaRPr>
          </a:p>
        </p:txBody>
      </p:sp>
      <p:sp>
        <p:nvSpPr>
          <p:cNvPr id="15" name="Rectangle 20"/>
          <p:cNvSpPr>
            <a:spLocks noChangeArrowheads="1"/>
          </p:cNvSpPr>
          <p:nvPr userDrawn="1"/>
        </p:nvSpPr>
        <p:spPr bwMode="white">
          <a:xfrm>
            <a:off x="7523122" y="6535469"/>
            <a:ext cx="1497458" cy="304799"/>
          </a:xfrm>
          <a:prstGeom prst="rect">
            <a:avLst/>
          </a:prstGeom>
          <a:solidFill>
            <a:schemeClr val="bg1"/>
          </a:solidFill>
          <a:ln w="9525">
            <a:solidFill>
              <a:srgbClr val="FF0066"/>
            </a:solidFill>
            <a:miter lim="800000"/>
          </a:ln>
        </p:spPr>
        <p:txBody>
          <a:bodyPr lIns="0" tIns="0" rIns="0" bIns="0" anchor="ctr"/>
          <a:lstStyle/>
          <a:p>
            <a:pPr algn="ctr"/>
            <a:r>
              <a:rPr lang="en-US" altLang="ja-JP" sz="1300" b="1">
                <a:solidFill>
                  <a:srgbClr val="FF0000"/>
                </a:solidFill>
                <a:latin typeface="Arial" panose="020B0604020202020204" pitchFamily="34" charset="0"/>
                <a:cs typeface="Arial" panose="020B0604020202020204" pitchFamily="34" charset="0"/>
              </a:rPr>
              <a:t>CONFIDENTIAL</a:t>
            </a:r>
          </a:p>
        </p:txBody>
      </p:sp>
      <p:pic>
        <p:nvPicPr>
          <p:cNvPr id="10" name="Picture 9">
            <a:extLst>
              <a:ext uri="{FF2B5EF4-FFF2-40B4-BE49-F238E27FC236}">
                <a16:creationId xmlns:a16="http://schemas.microsoft.com/office/drawing/2014/main" id="{6F949EC1-6BB4-448C-A770-DDA0AD5649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325"/>
            <a:ext cx="9144000" cy="905395"/>
          </a:xfrm>
          <a:prstGeom prst="rect">
            <a:avLst/>
          </a:prstGeom>
        </p:spPr>
      </p:pic>
      <p:pic>
        <p:nvPicPr>
          <p:cNvPr id="12" name="Picture 11">
            <a:extLst>
              <a:ext uri="{FF2B5EF4-FFF2-40B4-BE49-F238E27FC236}">
                <a16:creationId xmlns:a16="http://schemas.microsoft.com/office/drawing/2014/main" id="{13AA7009-801D-4310-8B34-8DFC5C6BB6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48264" y="188640"/>
            <a:ext cx="2195736" cy="4391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7" name="コンテンツ プレースホルダー 2"/>
          <p:cNvSpPr>
            <a:spLocks noGrp="1"/>
          </p:cNvSpPr>
          <p:nvPr>
            <p:ph idx="1"/>
          </p:nvPr>
        </p:nvSpPr>
        <p:spPr>
          <a:xfrm>
            <a:off x="457200" y="1244600"/>
            <a:ext cx="8229600" cy="498633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7" name="タイトル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ja-JP" altLang="en-US"/>
              <a:t>マスター タイトルの書式設定</a:t>
            </a:r>
          </a:p>
        </p:txBody>
      </p:sp>
      <p:sp>
        <p:nvSpPr>
          <p:cNvPr id="8" name="テキスト プレースホルダー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lvl1pPr>
              <a:defRPr>
                <a:latin typeface="meiryou UI "/>
              </a:defRPr>
            </a:lvl1pPr>
          </a:lstStyle>
          <a:p>
            <a:r>
              <a:rPr kumimoji="1" lang="ja-JP" altLang="en-US" dirty="0"/>
              <a:t>マスタ タイトルの書式設定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8" name="コンテンツ プレースホルダー 2"/>
          <p:cNvSpPr>
            <a:spLocks noGrp="1"/>
          </p:cNvSpPr>
          <p:nvPr>
            <p:ph sz="half" idx="1"/>
          </p:nvPr>
        </p:nvSpPr>
        <p:spPr>
          <a:xfrm>
            <a:off x="457200" y="1244600"/>
            <a:ext cx="4038600" cy="4986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9" name="コンテンツ プレースホルダー 3"/>
          <p:cNvSpPr>
            <a:spLocks noGrp="1"/>
          </p:cNvSpPr>
          <p:nvPr>
            <p:ph sz="half" idx="2"/>
          </p:nvPr>
        </p:nvSpPr>
        <p:spPr>
          <a:xfrm>
            <a:off x="4648200" y="1244600"/>
            <a:ext cx="4038600" cy="4986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p>
            <a:r>
              <a:rPr kumimoji="1" lang="ja-JP" altLang="en-US"/>
              <a:t>マスタ タイトルの書式設定</a:t>
            </a:r>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a:prstGeom prst="rect">
            <a:avLst/>
          </a:prstGeo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a:prstGeom prst="rect">
            <a:avLst/>
          </a:prstGeo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p>
            <a:r>
              <a:rPr kumimoji="1" lang="ja-JP" altLang="en-US"/>
              <a:t>マスタ タイトルの書式設定</a:t>
            </a:r>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8" name="縦書きテキスト プレースホルダー 2"/>
          <p:cNvSpPr>
            <a:spLocks noGrp="1"/>
          </p:cNvSpPr>
          <p:nvPr>
            <p:ph type="body" orient="vert" idx="1"/>
          </p:nvPr>
        </p:nvSpPr>
        <p:spPr>
          <a:xfrm>
            <a:off x="457200" y="1244600"/>
            <a:ext cx="8229600" cy="4986338"/>
          </a:xfrm>
          <a:prstGeom prst="rect">
            <a:avLst/>
          </a:prstGeom>
        </p:spPr>
        <p:txBody>
          <a:bodyPr vert="eaVert"/>
          <a:lstStyle>
            <a:lvl1pPr>
              <a:defRPr sz="2800"/>
            </a:lvl1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a:prstGeom prst="rect">
            <a:avLst/>
          </a:prstGeo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493677"/>
            <a:ext cx="9144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スライド番号プレースホルダ 5"/>
          <p:cNvSpPr>
            <a:spLocks noGrp="1"/>
          </p:cNvSpPr>
          <p:nvPr>
            <p:ph type="sldNum" sz="quarter" idx="4"/>
          </p:nvPr>
        </p:nvSpPr>
        <p:spPr>
          <a:xfrm>
            <a:off x="3518520" y="6525344"/>
            <a:ext cx="2133600" cy="265509"/>
          </a:xfrm>
          <a:prstGeom prst="rect">
            <a:avLst/>
          </a:prstGeom>
        </p:spPr>
        <p:txBody>
          <a:bodyPr vert="horz" lIns="91440" tIns="45720" rIns="91440" bIns="45720" rtlCol="0" anchor="ctr"/>
          <a:lstStyle>
            <a:lvl1pPr algn="ctr">
              <a:defRPr sz="1000">
                <a:solidFill>
                  <a:schemeClr val="tx1"/>
                </a:solidFill>
                <a:latin typeface="Arial" panose="020B0604020202020204" pitchFamily="34" charset="0"/>
                <a:cs typeface="Arial" panose="020B0604020202020204" pitchFamily="34" charset="0"/>
              </a:defRPr>
            </a:lvl1pPr>
          </a:lstStyle>
          <a:p>
            <a:fld id="{D2D8002D-B5B0-4BAC-B1F6-782DDCCE6D9C}" type="slidenum">
              <a:rPr lang="ja-JP" altLang="en-US" smtClean="0"/>
              <a:pPr/>
              <a:t>‹#›</a:t>
            </a:fld>
            <a:endParaRPr lang="ja-JP" altLang="en-US"/>
          </a:p>
        </p:txBody>
      </p:sp>
      <p:sp>
        <p:nvSpPr>
          <p:cNvPr id="13" name="Rectangle 25"/>
          <p:cNvSpPr>
            <a:spLocks noChangeArrowheads="1"/>
          </p:cNvSpPr>
          <p:nvPr userDrawn="1"/>
        </p:nvSpPr>
        <p:spPr bwMode="auto">
          <a:xfrm>
            <a:off x="35496" y="6508576"/>
            <a:ext cx="2664296" cy="30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ja-JP" sz="800" b="1" dirty="0">
                <a:latin typeface="Arial" panose="020B0604020202020204" pitchFamily="34" charset="0"/>
                <a:ea typeface="Arial Unicode MS" pitchFamily="50" charset="-128"/>
                <a:cs typeface="Arial" panose="020B0604020202020204" pitchFamily="34" charset="0"/>
              </a:rPr>
              <a:t>Dong Duong Plastic</a:t>
            </a:r>
            <a:r>
              <a:rPr lang="en-US" altLang="ja-JP" sz="800" b="1" baseline="0" dirty="0">
                <a:latin typeface="Arial" panose="020B0604020202020204" pitchFamily="34" charset="0"/>
                <a:ea typeface="Arial Unicode MS" pitchFamily="50" charset="-128"/>
                <a:cs typeface="Arial" panose="020B0604020202020204" pitchFamily="34" charset="0"/>
              </a:rPr>
              <a:t> and Mechanical (2022)</a:t>
            </a:r>
            <a:endParaRPr lang="en-US" altLang="ja-JP" sz="800" b="1" dirty="0">
              <a:latin typeface="Arial" panose="020B0604020202020204" pitchFamily="34" charset="0"/>
              <a:ea typeface="Arial Unicode MS" pitchFamily="50" charset="-128"/>
              <a:cs typeface="Arial" panose="020B0604020202020204" pitchFamily="34" charset="0"/>
            </a:endParaRPr>
          </a:p>
        </p:txBody>
      </p:sp>
      <p:sp>
        <p:nvSpPr>
          <p:cNvPr id="14" name="Rectangle 4"/>
          <p:cNvSpPr>
            <a:spLocks noGrp="1" noChangeArrowheads="1"/>
          </p:cNvSpPr>
          <p:nvPr>
            <p:ph type="body" idx="1"/>
          </p:nvPr>
        </p:nvSpPr>
        <p:spPr bwMode="auto">
          <a:xfrm>
            <a:off x="219853" y="1244600"/>
            <a:ext cx="8712968" cy="506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1" name="Rectangle 20"/>
          <p:cNvSpPr>
            <a:spLocks noChangeArrowheads="1"/>
          </p:cNvSpPr>
          <p:nvPr/>
        </p:nvSpPr>
        <p:spPr bwMode="white">
          <a:xfrm>
            <a:off x="7523122" y="6508575"/>
            <a:ext cx="1497458" cy="304799"/>
          </a:xfrm>
          <a:prstGeom prst="rect">
            <a:avLst/>
          </a:prstGeom>
          <a:solidFill>
            <a:schemeClr val="bg1"/>
          </a:solidFill>
          <a:ln w="9525">
            <a:solidFill>
              <a:srgbClr val="FF0066"/>
            </a:solidFill>
            <a:miter lim="800000"/>
          </a:ln>
        </p:spPr>
        <p:txBody>
          <a:bodyPr lIns="0" tIns="0" rIns="0" bIns="0" anchor="ctr"/>
          <a:lstStyle/>
          <a:p>
            <a:pPr algn="ctr"/>
            <a:r>
              <a:rPr lang="en-US" altLang="ja-JP" sz="1300" b="1">
                <a:solidFill>
                  <a:srgbClr val="FF0000"/>
                </a:solidFill>
                <a:latin typeface="Arial" panose="020B0604020202020204" pitchFamily="34" charset="0"/>
                <a:cs typeface="Arial" panose="020B0604020202020204" pitchFamily="34" charset="0"/>
              </a:rPr>
              <a:t>CONFIDENTIAL</a:t>
            </a:r>
          </a:p>
        </p:txBody>
      </p:sp>
      <p:cxnSp>
        <p:nvCxnSpPr>
          <p:cNvPr id="17" name="Straight Connector 16"/>
          <p:cNvCxnSpPr/>
          <p:nvPr userDrawn="1"/>
        </p:nvCxnSpPr>
        <p:spPr>
          <a:xfrm>
            <a:off x="0" y="914400"/>
            <a:ext cx="9144000" cy="0"/>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B86A94F-E8DB-4DE2-A6AA-B853E5C57BB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
            <a:ext cx="9144000" cy="914402"/>
          </a:xfrm>
          <a:prstGeom prst="rect">
            <a:avLst/>
          </a:prstGeom>
        </p:spPr>
      </p:pic>
      <p:pic>
        <p:nvPicPr>
          <p:cNvPr id="8" name="Picture 7">
            <a:extLst>
              <a:ext uri="{FF2B5EF4-FFF2-40B4-BE49-F238E27FC236}">
                <a16:creationId xmlns:a16="http://schemas.microsoft.com/office/drawing/2014/main" id="{3C268CB9-A42C-4831-AA35-2BCA83DBD62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030919" y="133335"/>
            <a:ext cx="2102844" cy="4205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spcBef>
          <a:spcPct val="0"/>
        </a:spcBef>
        <a:buNone/>
        <a:defRPr kumimoji="1" sz="22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7308304" cy="504056"/>
          </a:xfrm>
          <a:noFill/>
        </p:spPr>
        <p:txBody>
          <a:bodyPr lIns="0" tIns="36000" rIns="0" bIns="36000" anchor="ctr">
            <a:noAutofit/>
          </a:bodyPr>
          <a:lstStyle/>
          <a:p>
            <a:r>
              <a:rPr lang="vi-VN" altLang="ja-JP" sz="2200" dirty="0">
                <a:latin typeface="+mn-lt"/>
              </a:rPr>
              <a:t>CÔNG TY TNHH </a:t>
            </a:r>
            <a:r>
              <a:rPr lang="en-US" altLang="ja-JP" sz="2200" dirty="0">
                <a:latin typeface="+mn-lt"/>
              </a:rPr>
              <a:t> NHỰA VÀ CƠ KHÍ ĐÔNG DƯƠNG</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a:t>
            </a:fld>
            <a:endParaRPr kumimoji="1" lang="ja-JP" altLang="en-US">
              <a:latin typeface="+mn-lt"/>
            </a:endParaRPr>
          </a:p>
        </p:txBody>
      </p:sp>
      <p:sp>
        <p:nvSpPr>
          <p:cNvPr id="3" name="TextBox 2">
            <a:extLst>
              <a:ext uri="{FF2B5EF4-FFF2-40B4-BE49-F238E27FC236}">
                <a16:creationId xmlns:a16="http://schemas.microsoft.com/office/drawing/2014/main" id="{2F478117-7275-4EF7-B5D3-719B6CB6E34E}"/>
              </a:ext>
            </a:extLst>
          </p:cNvPr>
          <p:cNvSpPr txBox="1"/>
          <p:nvPr/>
        </p:nvSpPr>
        <p:spPr>
          <a:xfrm>
            <a:off x="1547664" y="1700808"/>
            <a:ext cx="6408712" cy="1938992"/>
          </a:xfrm>
          <a:prstGeom prst="rect">
            <a:avLst/>
          </a:prstGeom>
          <a:noFill/>
        </p:spPr>
        <p:txBody>
          <a:bodyPr wrap="square" rtlCol="0">
            <a:spAutoFit/>
          </a:bodyPr>
          <a:lstStyle/>
          <a:p>
            <a:pPr algn="ctr"/>
            <a:r>
              <a:rPr lang="en-US" sz="3000">
                <a:latin typeface="Times New Roman" panose="02020603050405020304" pitchFamily="18" charset="0"/>
                <a:cs typeface="Times New Roman" panose="02020603050405020304" pitchFamily="18" charset="0"/>
              </a:rPr>
              <a:t>TRIỂN KHAI ĐƯỜNG MẠNG DỰ PHÒNG MOBIFONE CHO NHÀ MÁY DD1, DD2, DDK</a:t>
            </a:r>
            <a:endParaRPr lang="en-US" sz="3000" dirty="0">
              <a:latin typeface="Times New Roman" panose="02020603050405020304" pitchFamily="18" charset="0"/>
              <a:cs typeface="Times New Roman" panose="02020603050405020304" pitchFamily="18" charset="0"/>
            </a:endParaRPr>
          </a:p>
          <a:p>
            <a:endParaRPr lang="vi-V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72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67271"/>
            <a:ext cx="4898914" cy="517255"/>
          </a:xfrm>
          <a:noFill/>
        </p:spPr>
        <p:txBody>
          <a:bodyPr lIns="0" tIns="36000" rIns="0" bIns="36000" anchor="ctr">
            <a:noAutofit/>
          </a:bodyPr>
          <a:lstStyle/>
          <a:p>
            <a:r>
              <a:rPr lang="en-US" altLang="ja-JP" sz="2200">
                <a:latin typeface="+mn-lt"/>
              </a:rPr>
              <a:t>Mô hình mạng hiện tại của công ty( bản thiết kế)</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2</a:t>
            </a:fld>
            <a:endParaRPr kumimoji="1" lang="ja-JP" altLang="en-US">
              <a:latin typeface="+mn-lt"/>
            </a:endParaRPr>
          </a:p>
        </p:txBody>
      </p:sp>
      <p:pic>
        <p:nvPicPr>
          <p:cNvPr id="7" name="Picture 6">
            <a:extLst>
              <a:ext uri="{FF2B5EF4-FFF2-40B4-BE49-F238E27FC236}">
                <a16:creationId xmlns:a16="http://schemas.microsoft.com/office/drawing/2014/main" id="{C044B6A0-841A-C6B3-1E29-7915ED0CA7E7}"/>
              </a:ext>
            </a:extLst>
          </p:cNvPr>
          <p:cNvPicPr>
            <a:picLocks noChangeAspect="1"/>
          </p:cNvPicPr>
          <p:nvPr/>
        </p:nvPicPr>
        <p:blipFill>
          <a:blip r:embed="rId3"/>
          <a:stretch>
            <a:fillRect/>
          </a:stretch>
        </p:blipFill>
        <p:spPr>
          <a:xfrm>
            <a:off x="95862" y="2712253"/>
            <a:ext cx="1584176" cy="1101472"/>
          </a:xfrm>
          <a:prstGeom prst="rect">
            <a:avLst/>
          </a:prstGeom>
        </p:spPr>
      </p:pic>
      <p:pic>
        <p:nvPicPr>
          <p:cNvPr id="11" name="Picture 10">
            <a:extLst>
              <a:ext uri="{FF2B5EF4-FFF2-40B4-BE49-F238E27FC236}">
                <a16:creationId xmlns:a16="http://schemas.microsoft.com/office/drawing/2014/main" id="{6975196D-B230-9CB8-129C-4510E6EBB6B7}"/>
              </a:ext>
            </a:extLst>
          </p:cNvPr>
          <p:cNvPicPr>
            <a:picLocks noChangeAspect="1"/>
          </p:cNvPicPr>
          <p:nvPr/>
        </p:nvPicPr>
        <p:blipFill>
          <a:blip r:embed="rId4"/>
          <a:stretch>
            <a:fillRect/>
          </a:stretch>
        </p:blipFill>
        <p:spPr>
          <a:xfrm>
            <a:off x="7224798" y="1963547"/>
            <a:ext cx="1785965" cy="1345839"/>
          </a:xfrm>
          <a:prstGeom prst="rect">
            <a:avLst/>
          </a:prstGeom>
        </p:spPr>
      </p:pic>
      <p:pic>
        <p:nvPicPr>
          <p:cNvPr id="13" name="Picture 12">
            <a:extLst>
              <a:ext uri="{FF2B5EF4-FFF2-40B4-BE49-F238E27FC236}">
                <a16:creationId xmlns:a16="http://schemas.microsoft.com/office/drawing/2014/main" id="{072B8FB4-F83D-0F98-0131-D4445F1A5EDA}"/>
              </a:ext>
            </a:extLst>
          </p:cNvPr>
          <p:cNvPicPr>
            <a:picLocks noChangeAspect="1"/>
          </p:cNvPicPr>
          <p:nvPr/>
        </p:nvPicPr>
        <p:blipFill>
          <a:blip r:embed="rId5"/>
          <a:stretch>
            <a:fillRect/>
          </a:stretch>
        </p:blipFill>
        <p:spPr>
          <a:xfrm>
            <a:off x="95862" y="3778124"/>
            <a:ext cx="1619476" cy="1076475"/>
          </a:xfrm>
          <a:prstGeom prst="rect">
            <a:avLst/>
          </a:prstGeom>
        </p:spPr>
      </p:pic>
      <p:pic>
        <p:nvPicPr>
          <p:cNvPr id="14" name="Picture 13">
            <a:extLst>
              <a:ext uri="{FF2B5EF4-FFF2-40B4-BE49-F238E27FC236}">
                <a16:creationId xmlns:a16="http://schemas.microsoft.com/office/drawing/2014/main" id="{29A4ED51-064F-25F5-B280-C5947B6A704F}"/>
              </a:ext>
            </a:extLst>
          </p:cNvPr>
          <p:cNvPicPr>
            <a:picLocks noChangeAspect="1"/>
          </p:cNvPicPr>
          <p:nvPr/>
        </p:nvPicPr>
        <p:blipFill>
          <a:blip r:embed="rId5"/>
          <a:stretch>
            <a:fillRect/>
          </a:stretch>
        </p:blipFill>
        <p:spPr>
          <a:xfrm>
            <a:off x="4585320" y="4941168"/>
            <a:ext cx="1619476" cy="1076475"/>
          </a:xfrm>
          <a:prstGeom prst="rect">
            <a:avLst/>
          </a:prstGeom>
        </p:spPr>
      </p:pic>
      <p:pic>
        <p:nvPicPr>
          <p:cNvPr id="15" name="Picture 14">
            <a:extLst>
              <a:ext uri="{FF2B5EF4-FFF2-40B4-BE49-F238E27FC236}">
                <a16:creationId xmlns:a16="http://schemas.microsoft.com/office/drawing/2014/main" id="{17FEBEDA-2F04-2659-2D9F-39258D4981E5}"/>
              </a:ext>
            </a:extLst>
          </p:cNvPr>
          <p:cNvPicPr>
            <a:picLocks noChangeAspect="1"/>
          </p:cNvPicPr>
          <p:nvPr/>
        </p:nvPicPr>
        <p:blipFill>
          <a:blip r:embed="rId5"/>
          <a:stretch>
            <a:fillRect/>
          </a:stretch>
        </p:blipFill>
        <p:spPr>
          <a:xfrm>
            <a:off x="7308042" y="3280042"/>
            <a:ext cx="1619476" cy="1076475"/>
          </a:xfrm>
          <a:prstGeom prst="rect">
            <a:avLst/>
          </a:prstGeom>
        </p:spPr>
      </p:pic>
      <p:pic>
        <p:nvPicPr>
          <p:cNvPr id="17" name="Picture 16">
            <a:extLst>
              <a:ext uri="{FF2B5EF4-FFF2-40B4-BE49-F238E27FC236}">
                <a16:creationId xmlns:a16="http://schemas.microsoft.com/office/drawing/2014/main" id="{81107537-6E00-29DB-6A18-8E24E319EC8E}"/>
              </a:ext>
            </a:extLst>
          </p:cNvPr>
          <p:cNvPicPr>
            <a:picLocks noChangeAspect="1"/>
          </p:cNvPicPr>
          <p:nvPr/>
        </p:nvPicPr>
        <p:blipFill>
          <a:blip r:embed="rId6"/>
          <a:stretch>
            <a:fillRect/>
          </a:stretch>
        </p:blipFill>
        <p:spPr>
          <a:xfrm>
            <a:off x="3067745" y="3098621"/>
            <a:ext cx="1143160" cy="1314633"/>
          </a:xfrm>
          <a:prstGeom prst="rect">
            <a:avLst/>
          </a:prstGeom>
        </p:spPr>
      </p:pic>
      <p:sp>
        <p:nvSpPr>
          <p:cNvPr id="18" name="TextBox 17">
            <a:extLst>
              <a:ext uri="{FF2B5EF4-FFF2-40B4-BE49-F238E27FC236}">
                <a16:creationId xmlns:a16="http://schemas.microsoft.com/office/drawing/2014/main" id="{52420D5C-4307-859A-F27A-EE4FF24CE1CE}"/>
              </a:ext>
            </a:extLst>
          </p:cNvPr>
          <p:cNvSpPr txBox="1"/>
          <p:nvPr/>
        </p:nvSpPr>
        <p:spPr>
          <a:xfrm>
            <a:off x="2899447" y="4249786"/>
            <a:ext cx="1464247" cy="369332"/>
          </a:xfrm>
          <a:prstGeom prst="rect">
            <a:avLst/>
          </a:prstGeom>
          <a:noFill/>
        </p:spPr>
        <p:txBody>
          <a:bodyPr wrap="square" rtlCol="0">
            <a:spAutoFit/>
          </a:bodyPr>
          <a:lstStyle/>
          <a:p>
            <a:r>
              <a:rPr lang="en-US"/>
              <a:t> </a:t>
            </a:r>
            <a:r>
              <a:rPr lang="en-US" sz="1400"/>
              <a:t>Nhà mạng VNPT</a:t>
            </a:r>
          </a:p>
        </p:txBody>
      </p:sp>
      <p:pic>
        <p:nvPicPr>
          <p:cNvPr id="29" name="Picture 28">
            <a:extLst>
              <a:ext uri="{FF2B5EF4-FFF2-40B4-BE49-F238E27FC236}">
                <a16:creationId xmlns:a16="http://schemas.microsoft.com/office/drawing/2014/main" id="{A8D95165-0A5A-1263-F3D5-179539FDB828}"/>
              </a:ext>
            </a:extLst>
          </p:cNvPr>
          <p:cNvPicPr>
            <a:picLocks noChangeAspect="1"/>
          </p:cNvPicPr>
          <p:nvPr/>
        </p:nvPicPr>
        <p:blipFill>
          <a:blip r:embed="rId7"/>
          <a:stretch>
            <a:fillRect/>
          </a:stretch>
        </p:blipFill>
        <p:spPr>
          <a:xfrm>
            <a:off x="3886659" y="912312"/>
            <a:ext cx="1278334" cy="1123108"/>
          </a:xfrm>
          <a:prstGeom prst="rect">
            <a:avLst/>
          </a:prstGeom>
        </p:spPr>
      </p:pic>
      <p:pic>
        <p:nvPicPr>
          <p:cNvPr id="41" name="Picture 40">
            <a:extLst>
              <a:ext uri="{FF2B5EF4-FFF2-40B4-BE49-F238E27FC236}">
                <a16:creationId xmlns:a16="http://schemas.microsoft.com/office/drawing/2014/main" id="{F27C8740-D011-8150-7520-547A2F1E10DE}"/>
              </a:ext>
            </a:extLst>
          </p:cNvPr>
          <p:cNvPicPr>
            <a:picLocks noChangeAspect="1"/>
          </p:cNvPicPr>
          <p:nvPr/>
        </p:nvPicPr>
        <p:blipFill>
          <a:blip r:embed="rId8"/>
          <a:stretch>
            <a:fillRect/>
          </a:stretch>
        </p:blipFill>
        <p:spPr>
          <a:xfrm>
            <a:off x="2297686" y="913492"/>
            <a:ext cx="1411428" cy="543439"/>
          </a:xfrm>
          <a:prstGeom prst="rect">
            <a:avLst/>
          </a:prstGeom>
        </p:spPr>
      </p:pic>
      <p:pic>
        <p:nvPicPr>
          <p:cNvPr id="55" name="Picture 54">
            <a:extLst>
              <a:ext uri="{FF2B5EF4-FFF2-40B4-BE49-F238E27FC236}">
                <a16:creationId xmlns:a16="http://schemas.microsoft.com/office/drawing/2014/main" id="{4BCF672B-3143-F7F5-2C67-8090290B66AA}"/>
              </a:ext>
            </a:extLst>
          </p:cNvPr>
          <p:cNvPicPr>
            <a:picLocks noChangeAspect="1"/>
          </p:cNvPicPr>
          <p:nvPr/>
        </p:nvPicPr>
        <p:blipFill>
          <a:blip r:embed="rId9"/>
          <a:stretch>
            <a:fillRect/>
          </a:stretch>
        </p:blipFill>
        <p:spPr>
          <a:xfrm>
            <a:off x="5318911" y="931825"/>
            <a:ext cx="737560" cy="574980"/>
          </a:xfrm>
          <a:prstGeom prst="rect">
            <a:avLst/>
          </a:prstGeom>
        </p:spPr>
      </p:pic>
      <p:pic>
        <p:nvPicPr>
          <p:cNvPr id="57" name="Picture 56">
            <a:extLst>
              <a:ext uri="{FF2B5EF4-FFF2-40B4-BE49-F238E27FC236}">
                <a16:creationId xmlns:a16="http://schemas.microsoft.com/office/drawing/2014/main" id="{8CF3FB11-0DA2-7DC5-CE35-41EF2DA47759}"/>
              </a:ext>
            </a:extLst>
          </p:cNvPr>
          <p:cNvPicPr>
            <a:picLocks noChangeAspect="1"/>
          </p:cNvPicPr>
          <p:nvPr/>
        </p:nvPicPr>
        <p:blipFill>
          <a:blip r:embed="rId10"/>
          <a:stretch>
            <a:fillRect/>
          </a:stretch>
        </p:blipFill>
        <p:spPr>
          <a:xfrm>
            <a:off x="5228442" y="1598447"/>
            <a:ext cx="2532044" cy="458180"/>
          </a:xfrm>
          <a:prstGeom prst="rect">
            <a:avLst/>
          </a:prstGeom>
        </p:spPr>
      </p:pic>
      <p:sp>
        <p:nvSpPr>
          <p:cNvPr id="58" name="Minus Sign 57">
            <a:extLst>
              <a:ext uri="{FF2B5EF4-FFF2-40B4-BE49-F238E27FC236}">
                <a16:creationId xmlns:a16="http://schemas.microsoft.com/office/drawing/2014/main" id="{F83EEEDC-E379-A49A-5277-AEDA1CD8E93A}"/>
              </a:ext>
            </a:extLst>
          </p:cNvPr>
          <p:cNvSpPr/>
          <p:nvPr/>
        </p:nvSpPr>
        <p:spPr>
          <a:xfrm>
            <a:off x="1150817" y="3809834"/>
            <a:ext cx="2367703"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Minus Sign 59">
            <a:extLst>
              <a:ext uri="{FF2B5EF4-FFF2-40B4-BE49-F238E27FC236}">
                <a16:creationId xmlns:a16="http://schemas.microsoft.com/office/drawing/2014/main" id="{C48AB0ED-DD0F-AE22-967E-3747098DDF4C}"/>
              </a:ext>
            </a:extLst>
          </p:cNvPr>
          <p:cNvSpPr/>
          <p:nvPr/>
        </p:nvSpPr>
        <p:spPr>
          <a:xfrm rot="359071" flipV="1">
            <a:off x="3543810" y="4147994"/>
            <a:ext cx="4399674" cy="73285"/>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Minus Sign 60">
            <a:extLst>
              <a:ext uri="{FF2B5EF4-FFF2-40B4-BE49-F238E27FC236}">
                <a16:creationId xmlns:a16="http://schemas.microsoft.com/office/drawing/2014/main" id="{39DB4BE8-7B03-60E8-5FB2-D4573F862896}"/>
              </a:ext>
            </a:extLst>
          </p:cNvPr>
          <p:cNvSpPr/>
          <p:nvPr/>
        </p:nvSpPr>
        <p:spPr>
          <a:xfrm rot="16200000">
            <a:off x="3331241" y="4644356"/>
            <a:ext cx="872777"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49901B0-7888-3519-65AA-F1E657792F8E}"/>
              </a:ext>
            </a:extLst>
          </p:cNvPr>
          <p:cNvPicPr>
            <a:picLocks noChangeAspect="1"/>
          </p:cNvPicPr>
          <p:nvPr/>
        </p:nvPicPr>
        <p:blipFill>
          <a:blip r:embed="rId11"/>
          <a:stretch>
            <a:fillRect/>
          </a:stretch>
        </p:blipFill>
        <p:spPr>
          <a:xfrm>
            <a:off x="2023203" y="3587363"/>
            <a:ext cx="232356" cy="219079"/>
          </a:xfrm>
          <a:prstGeom prst="rect">
            <a:avLst/>
          </a:prstGeom>
        </p:spPr>
      </p:pic>
      <p:pic>
        <p:nvPicPr>
          <p:cNvPr id="12" name="Picture 11">
            <a:extLst>
              <a:ext uri="{FF2B5EF4-FFF2-40B4-BE49-F238E27FC236}">
                <a16:creationId xmlns:a16="http://schemas.microsoft.com/office/drawing/2014/main" id="{7EBAC862-57AA-A0A9-D8C9-2D9763847F2D}"/>
              </a:ext>
            </a:extLst>
          </p:cNvPr>
          <p:cNvPicPr>
            <a:picLocks noChangeAspect="1"/>
          </p:cNvPicPr>
          <p:nvPr/>
        </p:nvPicPr>
        <p:blipFill>
          <a:blip r:embed="rId12"/>
          <a:stretch>
            <a:fillRect/>
          </a:stretch>
        </p:blipFill>
        <p:spPr>
          <a:xfrm>
            <a:off x="6133467" y="4280633"/>
            <a:ext cx="217239" cy="220607"/>
          </a:xfrm>
          <a:prstGeom prst="rect">
            <a:avLst/>
          </a:prstGeom>
        </p:spPr>
      </p:pic>
      <p:pic>
        <p:nvPicPr>
          <p:cNvPr id="19" name="Picture 18">
            <a:extLst>
              <a:ext uri="{FF2B5EF4-FFF2-40B4-BE49-F238E27FC236}">
                <a16:creationId xmlns:a16="http://schemas.microsoft.com/office/drawing/2014/main" id="{3DA962EC-4A9F-DCB7-C50D-9F7E546A90FF}"/>
              </a:ext>
            </a:extLst>
          </p:cNvPr>
          <p:cNvPicPr>
            <a:picLocks noChangeAspect="1"/>
          </p:cNvPicPr>
          <p:nvPr/>
        </p:nvPicPr>
        <p:blipFill>
          <a:blip r:embed="rId13"/>
          <a:stretch>
            <a:fillRect/>
          </a:stretch>
        </p:blipFill>
        <p:spPr>
          <a:xfrm>
            <a:off x="3804738" y="4550642"/>
            <a:ext cx="206516" cy="200397"/>
          </a:xfrm>
          <a:prstGeom prst="rect">
            <a:avLst/>
          </a:prstGeom>
        </p:spPr>
      </p:pic>
      <p:pic>
        <p:nvPicPr>
          <p:cNvPr id="21" name="Picture 20">
            <a:extLst>
              <a:ext uri="{FF2B5EF4-FFF2-40B4-BE49-F238E27FC236}">
                <a16:creationId xmlns:a16="http://schemas.microsoft.com/office/drawing/2014/main" id="{06BBD1C1-4567-D1EC-987D-2062D2E307DE}"/>
              </a:ext>
            </a:extLst>
          </p:cNvPr>
          <p:cNvPicPr>
            <a:picLocks noChangeAspect="1"/>
          </p:cNvPicPr>
          <p:nvPr/>
        </p:nvPicPr>
        <p:blipFill>
          <a:blip r:embed="rId14"/>
          <a:stretch>
            <a:fillRect/>
          </a:stretch>
        </p:blipFill>
        <p:spPr>
          <a:xfrm>
            <a:off x="6339653" y="956352"/>
            <a:ext cx="1209844" cy="476316"/>
          </a:xfrm>
          <a:prstGeom prst="rect">
            <a:avLst/>
          </a:prstGeom>
        </p:spPr>
      </p:pic>
      <p:pic>
        <p:nvPicPr>
          <p:cNvPr id="23" name="Picture 22">
            <a:extLst>
              <a:ext uri="{FF2B5EF4-FFF2-40B4-BE49-F238E27FC236}">
                <a16:creationId xmlns:a16="http://schemas.microsoft.com/office/drawing/2014/main" id="{9D5D41E2-5890-5294-E9D5-6AD26068FCAB}"/>
              </a:ext>
            </a:extLst>
          </p:cNvPr>
          <p:cNvPicPr>
            <a:picLocks noChangeAspect="1"/>
          </p:cNvPicPr>
          <p:nvPr/>
        </p:nvPicPr>
        <p:blipFill>
          <a:blip r:embed="rId15"/>
          <a:stretch>
            <a:fillRect/>
          </a:stretch>
        </p:blipFill>
        <p:spPr>
          <a:xfrm>
            <a:off x="5285610" y="1616310"/>
            <a:ext cx="440433" cy="397223"/>
          </a:xfrm>
          <a:prstGeom prst="rect">
            <a:avLst/>
          </a:prstGeom>
        </p:spPr>
      </p:pic>
      <p:pic>
        <p:nvPicPr>
          <p:cNvPr id="25" name="Picture 24">
            <a:extLst>
              <a:ext uri="{FF2B5EF4-FFF2-40B4-BE49-F238E27FC236}">
                <a16:creationId xmlns:a16="http://schemas.microsoft.com/office/drawing/2014/main" id="{88887819-6C97-2A93-2E2C-DD8D444541FA}"/>
              </a:ext>
            </a:extLst>
          </p:cNvPr>
          <p:cNvPicPr>
            <a:picLocks noChangeAspect="1"/>
          </p:cNvPicPr>
          <p:nvPr/>
        </p:nvPicPr>
        <p:blipFill>
          <a:blip r:embed="rId16"/>
          <a:stretch>
            <a:fillRect/>
          </a:stretch>
        </p:blipFill>
        <p:spPr>
          <a:xfrm>
            <a:off x="3116365" y="1524936"/>
            <a:ext cx="664379" cy="510484"/>
          </a:xfrm>
          <a:prstGeom prst="rect">
            <a:avLst/>
          </a:prstGeom>
        </p:spPr>
      </p:pic>
      <p:pic>
        <p:nvPicPr>
          <p:cNvPr id="27" name="Picture 26">
            <a:extLst>
              <a:ext uri="{FF2B5EF4-FFF2-40B4-BE49-F238E27FC236}">
                <a16:creationId xmlns:a16="http://schemas.microsoft.com/office/drawing/2014/main" id="{E9BCA22C-0CEB-9E95-2D31-7ADC27637194}"/>
              </a:ext>
            </a:extLst>
          </p:cNvPr>
          <p:cNvPicPr>
            <a:picLocks noChangeAspect="1"/>
          </p:cNvPicPr>
          <p:nvPr/>
        </p:nvPicPr>
        <p:blipFill>
          <a:blip r:embed="rId17"/>
          <a:stretch>
            <a:fillRect/>
          </a:stretch>
        </p:blipFill>
        <p:spPr>
          <a:xfrm>
            <a:off x="2214045" y="1524936"/>
            <a:ext cx="829378" cy="500995"/>
          </a:xfrm>
          <a:prstGeom prst="rect">
            <a:avLst/>
          </a:prstGeom>
        </p:spPr>
      </p:pic>
      <p:pic>
        <p:nvPicPr>
          <p:cNvPr id="32" name="Picture 31">
            <a:extLst>
              <a:ext uri="{FF2B5EF4-FFF2-40B4-BE49-F238E27FC236}">
                <a16:creationId xmlns:a16="http://schemas.microsoft.com/office/drawing/2014/main" id="{F33E3C16-FB66-74E5-4F55-7E5621402E3C}"/>
              </a:ext>
            </a:extLst>
          </p:cNvPr>
          <p:cNvPicPr>
            <a:picLocks noChangeAspect="1"/>
          </p:cNvPicPr>
          <p:nvPr/>
        </p:nvPicPr>
        <p:blipFill>
          <a:blip r:embed="rId18"/>
          <a:stretch>
            <a:fillRect/>
          </a:stretch>
        </p:blipFill>
        <p:spPr>
          <a:xfrm>
            <a:off x="2939186" y="4981732"/>
            <a:ext cx="1611626" cy="971391"/>
          </a:xfrm>
          <a:prstGeom prst="rect">
            <a:avLst/>
          </a:prstGeom>
        </p:spPr>
      </p:pic>
      <p:sp>
        <p:nvSpPr>
          <p:cNvPr id="35" name="Rectangle: Rounded Corners 34">
            <a:extLst>
              <a:ext uri="{FF2B5EF4-FFF2-40B4-BE49-F238E27FC236}">
                <a16:creationId xmlns:a16="http://schemas.microsoft.com/office/drawing/2014/main" id="{E7277DD6-01BA-BEDB-0FB3-9D48A880A7F1}"/>
              </a:ext>
            </a:extLst>
          </p:cNvPr>
          <p:cNvSpPr/>
          <p:nvPr/>
        </p:nvSpPr>
        <p:spPr>
          <a:xfrm>
            <a:off x="4688775" y="5031528"/>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DDK</a:t>
            </a:r>
          </a:p>
        </p:txBody>
      </p:sp>
      <p:sp>
        <p:nvSpPr>
          <p:cNvPr id="36" name="Rectangle: Rounded Corners 35">
            <a:extLst>
              <a:ext uri="{FF2B5EF4-FFF2-40B4-BE49-F238E27FC236}">
                <a16:creationId xmlns:a16="http://schemas.microsoft.com/office/drawing/2014/main" id="{63BEEE03-3F05-D127-CFC5-11688FB5F695}"/>
              </a:ext>
            </a:extLst>
          </p:cNvPr>
          <p:cNvSpPr/>
          <p:nvPr/>
        </p:nvSpPr>
        <p:spPr>
          <a:xfrm>
            <a:off x="215959" y="3879027"/>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DD1</a:t>
            </a:r>
          </a:p>
        </p:txBody>
      </p:sp>
      <p:sp>
        <p:nvSpPr>
          <p:cNvPr id="37" name="Rectangle: Rounded Corners 36">
            <a:extLst>
              <a:ext uri="{FF2B5EF4-FFF2-40B4-BE49-F238E27FC236}">
                <a16:creationId xmlns:a16="http://schemas.microsoft.com/office/drawing/2014/main" id="{232F7CDF-A0FA-EFE2-BD0E-BB2C34DCCFE4}"/>
              </a:ext>
            </a:extLst>
          </p:cNvPr>
          <p:cNvSpPr/>
          <p:nvPr/>
        </p:nvSpPr>
        <p:spPr>
          <a:xfrm>
            <a:off x="7433541" y="3353938"/>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DD2</a:t>
            </a:r>
          </a:p>
        </p:txBody>
      </p:sp>
      <p:sp>
        <p:nvSpPr>
          <p:cNvPr id="39" name="Rectangle: Rounded Corners 38">
            <a:extLst>
              <a:ext uri="{FF2B5EF4-FFF2-40B4-BE49-F238E27FC236}">
                <a16:creationId xmlns:a16="http://schemas.microsoft.com/office/drawing/2014/main" id="{C8B5B6C0-1AEA-EAEF-29E4-12D042232B22}"/>
              </a:ext>
            </a:extLst>
          </p:cNvPr>
          <p:cNvSpPr/>
          <p:nvPr/>
        </p:nvSpPr>
        <p:spPr>
          <a:xfrm>
            <a:off x="118384" y="4972322"/>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DD1</a:t>
            </a:r>
          </a:p>
        </p:txBody>
      </p:sp>
      <p:sp>
        <p:nvSpPr>
          <p:cNvPr id="40" name="Rectangle: Rounded Corners 39">
            <a:extLst>
              <a:ext uri="{FF2B5EF4-FFF2-40B4-BE49-F238E27FC236}">
                <a16:creationId xmlns:a16="http://schemas.microsoft.com/office/drawing/2014/main" id="{5F70E673-2DD9-C26E-BBD2-1AD215CCF617}"/>
              </a:ext>
            </a:extLst>
          </p:cNvPr>
          <p:cNvSpPr/>
          <p:nvPr/>
        </p:nvSpPr>
        <p:spPr>
          <a:xfrm>
            <a:off x="3744999" y="6080720"/>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DDK</a:t>
            </a:r>
          </a:p>
        </p:txBody>
      </p:sp>
      <p:sp>
        <p:nvSpPr>
          <p:cNvPr id="42" name="Rectangle: Rounded Corners 41">
            <a:extLst>
              <a:ext uri="{FF2B5EF4-FFF2-40B4-BE49-F238E27FC236}">
                <a16:creationId xmlns:a16="http://schemas.microsoft.com/office/drawing/2014/main" id="{2D1A3364-0F74-18B5-225C-C39FEF6431CA}"/>
              </a:ext>
            </a:extLst>
          </p:cNvPr>
          <p:cNvSpPr/>
          <p:nvPr/>
        </p:nvSpPr>
        <p:spPr>
          <a:xfrm>
            <a:off x="7330729" y="4413254"/>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DD2</a:t>
            </a:r>
          </a:p>
        </p:txBody>
      </p:sp>
      <p:pic>
        <p:nvPicPr>
          <p:cNvPr id="5" name="Picture 4">
            <a:extLst>
              <a:ext uri="{FF2B5EF4-FFF2-40B4-BE49-F238E27FC236}">
                <a16:creationId xmlns:a16="http://schemas.microsoft.com/office/drawing/2014/main" id="{803B0084-5D7D-142E-4D4C-1A031B4D7DC0}"/>
              </a:ext>
            </a:extLst>
          </p:cNvPr>
          <p:cNvPicPr>
            <a:picLocks noChangeAspect="1"/>
          </p:cNvPicPr>
          <p:nvPr/>
        </p:nvPicPr>
        <p:blipFill>
          <a:blip r:embed="rId19"/>
          <a:stretch>
            <a:fillRect/>
          </a:stretch>
        </p:blipFill>
        <p:spPr>
          <a:xfrm>
            <a:off x="4934018" y="2417574"/>
            <a:ext cx="934126" cy="1313265"/>
          </a:xfrm>
          <a:prstGeom prst="rect">
            <a:avLst/>
          </a:prstGeom>
        </p:spPr>
      </p:pic>
      <p:sp>
        <p:nvSpPr>
          <p:cNvPr id="6" name="Minus Sign 5">
            <a:extLst>
              <a:ext uri="{FF2B5EF4-FFF2-40B4-BE49-F238E27FC236}">
                <a16:creationId xmlns:a16="http://schemas.microsoft.com/office/drawing/2014/main" id="{E1A082B1-14DA-5EC0-7957-23F676858F7B}"/>
              </a:ext>
            </a:extLst>
          </p:cNvPr>
          <p:cNvSpPr/>
          <p:nvPr/>
        </p:nvSpPr>
        <p:spPr>
          <a:xfrm>
            <a:off x="1088986" y="2893732"/>
            <a:ext cx="4457632" cy="170588"/>
          </a:xfrm>
          <a:prstGeom prst="mathMinus">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Minus Sign 8">
            <a:extLst>
              <a:ext uri="{FF2B5EF4-FFF2-40B4-BE49-F238E27FC236}">
                <a16:creationId xmlns:a16="http://schemas.microsoft.com/office/drawing/2014/main" id="{F5D454A4-8C54-F5CF-F931-1468E354D231}"/>
              </a:ext>
            </a:extLst>
          </p:cNvPr>
          <p:cNvSpPr/>
          <p:nvPr/>
        </p:nvSpPr>
        <p:spPr>
          <a:xfrm rot="373312">
            <a:off x="5485530" y="3005814"/>
            <a:ext cx="2317991" cy="163170"/>
          </a:xfrm>
          <a:prstGeom prst="mathMinus">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Minus Sign 9">
            <a:extLst>
              <a:ext uri="{FF2B5EF4-FFF2-40B4-BE49-F238E27FC236}">
                <a16:creationId xmlns:a16="http://schemas.microsoft.com/office/drawing/2014/main" id="{D02A4CA2-2F53-4D8A-B60C-6532D478D2A9}"/>
              </a:ext>
            </a:extLst>
          </p:cNvPr>
          <p:cNvSpPr/>
          <p:nvPr/>
        </p:nvSpPr>
        <p:spPr>
          <a:xfrm rot="16200000">
            <a:off x="4623686" y="4340172"/>
            <a:ext cx="1464231" cy="190704"/>
          </a:xfrm>
          <a:prstGeom prst="mathMinus">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Minus Sign 15">
            <a:extLst>
              <a:ext uri="{FF2B5EF4-FFF2-40B4-BE49-F238E27FC236}">
                <a16:creationId xmlns:a16="http://schemas.microsoft.com/office/drawing/2014/main" id="{38A06734-F511-5C5F-39D3-F38AC4996E03}"/>
              </a:ext>
            </a:extLst>
          </p:cNvPr>
          <p:cNvSpPr/>
          <p:nvPr/>
        </p:nvSpPr>
        <p:spPr>
          <a:xfrm rot="5400000">
            <a:off x="3055792" y="2493806"/>
            <a:ext cx="1573939" cy="2010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Minus Sign 19">
            <a:extLst>
              <a:ext uri="{FF2B5EF4-FFF2-40B4-BE49-F238E27FC236}">
                <a16:creationId xmlns:a16="http://schemas.microsoft.com/office/drawing/2014/main" id="{022F6BB0-E373-50E0-9AA3-779A1580E1D6}"/>
              </a:ext>
            </a:extLst>
          </p:cNvPr>
          <p:cNvSpPr/>
          <p:nvPr/>
        </p:nvSpPr>
        <p:spPr>
          <a:xfrm rot="16200000">
            <a:off x="4921200" y="2096362"/>
            <a:ext cx="665373" cy="153094"/>
          </a:xfrm>
          <a:prstGeom prst="mathMinus">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9AA2B18-320D-2724-D8C0-EA68761BDF6B}"/>
              </a:ext>
            </a:extLst>
          </p:cNvPr>
          <p:cNvSpPr txBox="1"/>
          <p:nvPr/>
        </p:nvSpPr>
        <p:spPr>
          <a:xfrm>
            <a:off x="4426288" y="3594213"/>
            <a:ext cx="1815798" cy="369332"/>
          </a:xfrm>
          <a:prstGeom prst="rect">
            <a:avLst/>
          </a:prstGeom>
          <a:noFill/>
        </p:spPr>
        <p:txBody>
          <a:bodyPr wrap="square" rtlCol="0">
            <a:spAutoFit/>
          </a:bodyPr>
          <a:lstStyle/>
          <a:p>
            <a:r>
              <a:rPr lang="en-US"/>
              <a:t> </a:t>
            </a:r>
            <a:r>
              <a:rPr lang="en-US" sz="1400"/>
              <a:t>Nhà mạng MobiFone</a:t>
            </a:r>
          </a:p>
        </p:txBody>
      </p:sp>
      <p:pic>
        <p:nvPicPr>
          <p:cNvPr id="26" name="Picture 25">
            <a:extLst>
              <a:ext uri="{FF2B5EF4-FFF2-40B4-BE49-F238E27FC236}">
                <a16:creationId xmlns:a16="http://schemas.microsoft.com/office/drawing/2014/main" id="{C4AA3ACB-89DA-F9D2-50C1-15D65F01474E}"/>
              </a:ext>
            </a:extLst>
          </p:cNvPr>
          <p:cNvPicPr>
            <a:picLocks noChangeAspect="1"/>
          </p:cNvPicPr>
          <p:nvPr/>
        </p:nvPicPr>
        <p:blipFill>
          <a:blip r:embed="rId20"/>
          <a:stretch>
            <a:fillRect/>
          </a:stretch>
        </p:blipFill>
        <p:spPr>
          <a:xfrm>
            <a:off x="2801317" y="2675526"/>
            <a:ext cx="266428" cy="257621"/>
          </a:xfrm>
          <a:prstGeom prst="rect">
            <a:avLst/>
          </a:prstGeom>
        </p:spPr>
      </p:pic>
      <p:pic>
        <p:nvPicPr>
          <p:cNvPr id="30" name="Picture 29">
            <a:extLst>
              <a:ext uri="{FF2B5EF4-FFF2-40B4-BE49-F238E27FC236}">
                <a16:creationId xmlns:a16="http://schemas.microsoft.com/office/drawing/2014/main" id="{99D7D166-C1EF-AA57-C104-FC4463AEB1B1}"/>
              </a:ext>
            </a:extLst>
          </p:cNvPr>
          <p:cNvPicPr>
            <a:picLocks noChangeAspect="1"/>
          </p:cNvPicPr>
          <p:nvPr/>
        </p:nvPicPr>
        <p:blipFill>
          <a:blip r:embed="rId21"/>
          <a:stretch>
            <a:fillRect/>
          </a:stretch>
        </p:blipFill>
        <p:spPr>
          <a:xfrm>
            <a:off x="6612150" y="2786193"/>
            <a:ext cx="267917" cy="249906"/>
          </a:xfrm>
          <a:prstGeom prst="rect">
            <a:avLst/>
          </a:prstGeom>
        </p:spPr>
      </p:pic>
      <p:pic>
        <p:nvPicPr>
          <p:cNvPr id="33" name="Picture 32">
            <a:extLst>
              <a:ext uri="{FF2B5EF4-FFF2-40B4-BE49-F238E27FC236}">
                <a16:creationId xmlns:a16="http://schemas.microsoft.com/office/drawing/2014/main" id="{C680D6D4-8BBD-86B2-42C5-EF46DDFF6CE1}"/>
              </a:ext>
            </a:extLst>
          </p:cNvPr>
          <p:cNvPicPr>
            <a:picLocks noChangeAspect="1"/>
          </p:cNvPicPr>
          <p:nvPr/>
        </p:nvPicPr>
        <p:blipFill>
          <a:blip r:embed="rId22"/>
          <a:stretch>
            <a:fillRect/>
          </a:stretch>
        </p:blipFill>
        <p:spPr>
          <a:xfrm>
            <a:off x="5411726" y="4489050"/>
            <a:ext cx="258338" cy="251599"/>
          </a:xfrm>
          <a:prstGeom prst="rect">
            <a:avLst/>
          </a:prstGeom>
        </p:spPr>
      </p:pic>
    </p:spTree>
    <p:extLst>
      <p:ext uri="{BB962C8B-B14F-4D97-AF65-F5344CB8AC3E}">
        <p14:creationId xmlns:p14="http://schemas.microsoft.com/office/powerpoint/2010/main" val="2109126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25000"/>
            <a:ext cx="4860032" cy="504056"/>
          </a:xfrm>
          <a:noFill/>
        </p:spPr>
        <p:txBody>
          <a:bodyPr lIns="0" tIns="36000" rIns="0" bIns="36000" anchor="ctr">
            <a:noAutofit/>
          </a:bodyPr>
          <a:lstStyle/>
          <a:p>
            <a:r>
              <a:rPr lang="en-US" altLang="ja-JP" sz="1600">
                <a:latin typeface="Times New Roman" panose="02020603050405020304" pitchFamily="18" charset="0"/>
                <a:cs typeface="Times New Roman" panose="02020603050405020304" pitchFamily="18" charset="0"/>
              </a:rPr>
              <a:t> I) THỰC </a:t>
            </a:r>
            <a:r>
              <a:rPr lang="en-US" altLang="ja-JP" sz="1600" dirty="0">
                <a:latin typeface="Times New Roman" panose="02020603050405020304" pitchFamily="18" charset="0"/>
                <a:cs typeface="Times New Roman" panose="02020603050405020304" pitchFamily="18" charset="0"/>
              </a:rPr>
              <a:t>TRẠNG MÔ HÌNH MẠNG CỦA CÔNG TY</a:t>
            </a:r>
            <a:endParaRPr kumimoji="1" lang="en-US" altLang="ja-JP" sz="1600" dirty="0">
              <a:latin typeface="Times New Roman" panose="02020603050405020304" pitchFamily="18" charset="0"/>
              <a:cs typeface="Times New Roman" panose="02020603050405020304" pitchFamily="18" charset="0"/>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3</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359532" y="5469278"/>
            <a:ext cx="8424936" cy="938719"/>
          </a:xfrm>
          <a:prstGeom prst="rect">
            <a:avLst/>
          </a:prstGeom>
          <a:noFill/>
        </p:spPr>
        <p:txBody>
          <a:bodyPr wrap="square" rtlCol="0">
            <a:spAutoFit/>
          </a:bodyPr>
          <a:lstStyle/>
          <a:p>
            <a:r>
              <a:rPr lang="en-US" sz="1100" b="1" dirty="0" err="1">
                <a:latin typeface="Times New Roman" panose="02020603050405020304" pitchFamily="18" charset="0"/>
                <a:cs typeface="Times New Roman" panose="02020603050405020304" pitchFamily="18" charset="0"/>
              </a:rPr>
              <a:t>Công</a:t>
            </a:r>
            <a:r>
              <a:rPr lang="en-US" sz="1100" b="1" dirty="0">
                <a:latin typeface="Times New Roman" panose="02020603050405020304" pitchFamily="18" charset="0"/>
                <a:cs typeface="Times New Roman" panose="02020603050405020304" pitchFamily="18" charset="0"/>
              </a:rPr>
              <a:t> ty </a:t>
            </a:r>
            <a:r>
              <a:rPr lang="en-US" sz="1100" b="1" dirty="0" err="1">
                <a:latin typeface="Times New Roman" panose="02020603050405020304" pitchFamily="18" charset="0"/>
                <a:cs typeface="Times New Roman" panose="02020603050405020304" pitchFamily="18" charset="0"/>
              </a:rPr>
              <a:t>Đông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Dương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hiện</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đang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có</a:t>
            </a:r>
            <a:r>
              <a:rPr lang="en-US" sz="1100" b="1" dirty="0">
                <a:latin typeface="Times New Roman" panose="02020603050405020304" pitchFamily="18" charset="0"/>
                <a:cs typeface="Times New Roman" panose="02020603050405020304" pitchFamily="18" charset="0"/>
              </a:rPr>
              <a:t> 3 </a:t>
            </a:r>
            <a:r>
              <a:rPr lang="en-US" sz="1100" b="1" dirty="0" err="1">
                <a:latin typeface="Times New Roman" panose="02020603050405020304" pitchFamily="18" charset="0"/>
                <a:cs typeface="Times New Roman" panose="02020603050405020304" pitchFamily="18" charset="0"/>
              </a:rPr>
              <a:t>nhà</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máy</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mỗi</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nhà</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máy</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sử</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dụng</a:t>
            </a:r>
            <a:r>
              <a:rPr lang="en-US" sz="1100" b="1" dirty="0">
                <a:latin typeface="Times New Roman" panose="02020603050405020304" pitchFamily="18" charset="0"/>
                <a:cs typeface="Times New Roman" panose="02020603050405020304" pitchFamily="18" charset="0"/>
              </a:rPr>
              <a:t> 1 </a:t>
            </a:r>
            <a:r>
              <a:rPr lang="en-US" sz="1100" b="1" dirty="0" err="1">
                <a:latin typeface="Times New Roman" panose="02020603050405020304" pitchFamily="18" charset="0"/>
                <a:cs typeface="Times New Roman" panose="02020603050405020304" pitchFamily="18" charset="0"/>
              </a:rPr>
              <a:t>đường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mạng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riêng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biệt</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được</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cung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cấp</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bởi</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nhà</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mạng</a:t>
            </a:r>
            <a:r>
              <a:rPr lang="en-US" sz="1100" b="1" dirty="0">
                <a:latin typeface="Times New Roman" panose="02020603050405020304" pitchFamily="18" charset="0"/>
                <a:cs typeface="Times New Roman" panose="02020603050405020304" pitchFamily="18" charset="0"/>
              </a:rPr>
              <a:t> VPNT </a:t>
            </a:r>
            <a:r>
              <a:rPr lang="en-US" sz="1100" b="1" dirty="0" err="1">
                <a:latin typeface="Times New Roman" panose="02020603050405020304" pitchFamily="18" charset="0"/>
                <a:cs typeface="Times New Roman" panose="02020603050405020304" pitchFamily="18" charset="0"/>
              </a:rPr>
              <a:t>cho</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hệ</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thống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máy</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tính</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với</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mục</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đích</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chính</a:t>
            </a:r>
            <a:r>
              <a:rPr lang="en-US" sz="1100" b="1" dirty="0">
                <a:latin typeface="Times New Roman" panose="02020603050405020304" pitchFamily="18" charset="0"/>
                <a:cs typeface="Times New Roman" panose="02020603050405020304" pitchFamily="18" charset="0"/>
              </a:rPr>
              <a:t>:</a:t>
            </a:r>
          </a:p>
          <a:p>
            <a:r>
              <a:rPr lang="en-US" sz="1100" dirty="0">
                <a:latin typeface="Times New Roman" panose="02020603050405020304" pitchFamily="18" charset="0"/>
                <a:cs typeface="Times New Roman" panose="02020603050405020304" pitchFamily="18" charset="0"/>
              </a:rPr>
              <a:t>1)</a:t>
            </a:r>
            <a:r>
              <a:rPr lang="en-US" sz="1100" dirty="0" err="1">
                <a:latin typeface="Times New Roman" panose="02020603050405020304" pitchFamily="18" charset="0"/>
                <a:cs typeface="Times New Roman" panose="02020603050405020304" pitchFamily="18" charset="0"/>
              </a:rPr>
              <a:t>Máy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tính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của</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từng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nhà</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máy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thể</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truy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cập</a:t>
            </a:r>
            <a:r>
              <a:rPr lang="en-US" sz="1100" dirty="0">
                <a:latin typeface="Times New Roman" panose="02020603050405020304" pitchFamily="18" charset="0"/>
                <a:cs typeface="Times New Roman" panose="02020603050405020304" pitchFamily="18" charset="0"/>
              </a:rPr>
              <a:t> Internet </a:t>
            </a:r>
            <a:r>
              <a:rPr lang="en-US" sz="1100" dirty="0" err="1">
                <a:latin typeface="Times New Roman" panose="02020603050405020304" pitchFamily="18" charset="0"/>
                <a:cs typeface="Times New Roman" panose="02020603050405020304" pitchFamily="18" charset="0"/>
              </a:rPr>
              <a:t>để</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vụ</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công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việc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phòng</a:t>
            </a:r>
            <a:r>
              <a:rPr lang="en-US" sz="1100" dirty="0">
                <a:latin typeface="Times New Roman" panose="02020603050405020304" pitchFamily="18" charset="0"/>
                <a:cs typeface="Times New Roman" panose="02020603050405020304" pitchFamily="18" charset="0"/>
              </a:rPr>
              <a:t> ban </a:t>
            </a:r>
            <a:r>
              <a:rPr lang="en-US" sz="1100" dirty="0" err="1">
                <a:latin typeface="Times New Roman" panose="02020603050405020304" pitchFamily="18" charset="0"/>
                <a:cs typeface="Times New Roman" panose="02020603050405020304" pitchFamily="18" charset="0"/>
              </a:rPr>
              <a:t>cũng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như</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trao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đổi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công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việc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với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khách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hàng</a:t>
            </a:r>
            <a:r>
              <a:rPr lang="en-US" sz="1100" dirty="0">
                <a:latin typeface="Times New Roman" panose="02020603050405020304" pitchFamily="18" charset="0"/>
                <a:cs typeface="Times New Roman" panose="02020603050405020304" pitchFamily="18" charset="0"/>
              </a:rPr>
              <a:t>….</a:t>
            </a:r>
          </a:p>
          <a:p>
            <a:r>
              <a:rPr lang="en-US" sz="1100" dirty="0">
                <a:latin typeface="Times New Roman" panose="02020603050405020304" pitchFamily="18" charset="0"/>
                <a:cs typeface="Times New Roman" panose="02020603050405020304" pitchFamily="18" charset="0"/>
              </a:rPr>
              <a:t>2) </a:t>
            </a:r>
            <a:r>
              <a:rPr lang="en-US" sz="1100" dirty="0" err="1">
                <a:latin typeface="Times New Roman" panose="02020603050405020304" pitchFamily="18" charset="0"/>
                <a:cs typeface="Times New Roman" panose="02020603050405020304" pitchFamily="18" charset="0"/>
              </a:rPr>
              <a:t>Các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máy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tính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thể</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kết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nối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cũng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như</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được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dữ</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liệu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nội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bộ</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xuất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DProS</a:t>
            </a:r>
            <a:r>
              <a:rPr lang="en-US" sz="1100" dirty="0">
                <a:latin typeface="Times New Roman" panose="02020603050405020304" pitchFamily="18" charset="0"/>
                <a:cs typeface="Times New Roman" panose="02020603050405020304" pitchFamily="18" charset="0"/>
              </a:rPr>
              <a:t>, DProS2),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nhân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sự</a:t>
            </a:r>
            <a:r>
              <a:rPr lang="en-US" sz="1100" dirty="0">
                <a:latin typeface="Times New Roman" panose="02020603050405020304" pitchFamily="18" charset="0"/>
                <a:cs typeface="Times New Roman" panose="02020603050405020304" pitchFamily="18" charset="0"/>
              </a:rPr>
              <a:t> (HRM),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kho</a:t>
            </a:r>
            <a:r>
              <a:rPr lang="en-US" sz="1100"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A81FD7BD-FD4F-88E5-7CF5-229710B57159}"/>
              </a:ext>
            </a:extLst>
          </p:cNvPr>
          <p:cNvPicPr>
            <a:picLocks noChangeAspect="1"/>
          </p:cNvPicPr>
          <p:nvPr/>
        </p:nvPicPr>
        <p:blipFill>
          <a:blip r:embed="rId4"/>
          <a:stretch>
            <a:fillRect/>
          </a:stretch>
        </p:blipFill>
        <p:spPr>
          <a:xfrm>
            <a:off x="7337913" y="2852262"/>
            <a:ext cx="1672695" cy="519588"/>
          </a:xfrm>
          <a:prstGeom prst="rect">
            <a:avLst/>
          </a:prstGeom>
        </p:spPr>
      </p:pic>
      <p:pic>
        <p:nvPicPr>
          <p:cNvPr id="12" name="Picture 11">
            <a:extLst>
              <a:ext uri="{FF2B5EF4-FFF2-40B4-BE49-F238E27FC236}">
                <a16:creationId xmlns:a16="http://schemas.microsoft.com/office/drawing/2014/main" id="{DF99F101-6E7E-E863-624F-CD9686A245D9}"/>
              </a:ext>
            </a:extLst>
          </p:cNvPr>
          <p:cNvPicPr>
            <a:picLocks noChangeAspect="1"/>
          </p:cNvPicPr>
          <p:nvPr/>
        </p:nvPicPr>
        <p:blipFill>
          <a:blip r:embed="rId5"/>
          <a:stretch>
            <a:fillRect/>
          </a:stretch>
        </p:blipFill>
        <p:spPr>
          <a:xfrm>
            <a:off x="4656228" y="4888028"/>
            <a:ext cx="3732196" cy="427801"/>
          </a:xfrm>
          <a:prstGeom prst="rect">
            <a:avLst/>
          </a:prstGeom>
        </p:spPr>
      </p:pic>
      <p:cxnSp>
        <p:nvCxnSpPr>
          <p:cNvPr id="14" name="Straight Arrow Connector 13">
            <a:extLst>
              <a:ext uri="{FF2B5EF4-FFF2-40B4-BE49-F238E27FC236}">
                <a16:creationId xmlns:a16="http://schemas.microsoft.com/office/drawing/2014/main" id="{221B7A09-B922-0822-D59B-580C38982CA4}"/>
              </a:ext>
            </a:extLst>
          </p:cNvPr>
          <p:cNvCxnSpPr>
            <a:cxnSpLocks/>
          </p:cNvCxnSpPr>
          <p:nvPr/>
        </p:nvCxnSpPr>
        <p:spPr>
          <a:xfrm flipV="1">
            <a:off x="7020272" y="3140968"/>
            <a:ext cx="432048" cy="2308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57E02221-0F8F-E942-BD59-2D03FCA66D6E}"/>
              </a:ext>
            </a:extLst>
          </p:cNvPr>
          <p:cNvCxnSpPr>
            <a:cxnSpLocks/>
          </p:cNvCxnSpPr>
          <p:nvPr/>
        </p:nvCxnSpPr>
        <p:spPr>
          <a:xfrm>
            <a:off x="4860032" y="4581128"/>
            <a:ext cx="792088" cy="306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B53D267C-0E36-2228-D211-21E2E34EA1D7}"/>
              </a:ext>
            </a:extLst>
          </p:cNvPr>
          <p:cNvPicPr>
            <a:picLocks noChangeAspect="1"/>
          </p:cNvPicPr>
          <p:nvPr/>
        </p:nvPicPr>
        <p:blipFill>
          <a:blip r:embed="rId6"/>
          <a:stretch>
            <a:fillRect/>
          </a:stretch>
        </p:blipFill>
        <p:spPr>
          <a:xfrm>
            <a:off x="1907704" y="2348880"/>
            <a:ext cx="1512168" cy="384820"/>
          </a:xfrm>
          <a:prstGeom prst="rect">
            <a:avLst/>
          </a:prstGeom>
        </p:spPr>
      </p:pic>
      <p:cxnSp>
        <p:nvCxnSpPr>
          <p:cNvPr id="21" name="Straight Arrow Connector 20">
            <a:extLst>
              <a:ext uri="{FF2B5EF4-FFF2-40B4-BE49-F238E27FC236}">
                <a16:creationId xmlns:a16="http://schemas.microsoft.com/office/drawing/2014/main" id="{6B0F63B8-B409-DC1B-A94C-19FA666BD33C}"/>
              </a:ext>
            </a:extLst>
          </p:cNvPr>
          <p:cNvCxnSpPr>
            <a:cxnSpLocks/>
          </p:cNvCxnSpPr>
          <p:nvPr/>
        </p:nvCxnSpPr>
        <p:spPr>
          <a:xfrm flipV="1">
            <a:off x="1460852" y="2733700"/>
            <a:ext cx="662876" cy="911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59D5079A-DFEF-B63C-CE79-9CCEB61F2371}"/>
              </a:ext>
            </a:extLst>
          </p:cNvPr>
          <p:cNvPicPr>
            <a:picLocks noChangeAspect="1"/>
          </p:cNvPicPr>
          <p:nvPr/>
        </p:nvPicPr>
        <p:blipFill>
          <a:blip r:embed="rId7"/>
          <a:stretch>
            <a:fillRect/>
          </a:stretch>
        </p:blipFill>
        <p:spPr>
          <a:xfrm>
            <a:off x="7740160" y="3318844"/>
            <a:ext cx="432048" cy="532346"/>
          </a:xfrm>
          <a:prstGeom prst="rect">
            <a:avLst/>
          </a:prstGeom>
        </p:spPr>
      </p:pic>
      <p:pic>
        <p:nvPicPr>
          <p:cNvPr id="13" name="Picture 12">
            <a:extLst>
              <a:ext uri="{FF2B5EF4-FFF2-40B4-BE49-F238E27FC236}">
                <a16:creationId xmlns:a16="http://schemas.microsoft.com/office/drawing/2014/main" id="{59D5079A-DFEF-B63C-CE79-9CCEB61F2371}"/>
              </a:ext>
            </a:extLst>
          </p:cNvPr>
          <p:cNvPicPr>
            <a:picLocks noChangeAspect="1"/>
          </p:cNvPicPr>
          <p:nvPr/>
        </p:nvPicPr>
        <p:blipFill>
          <a:blip r:embed="rId7"/>
          <a:stretch>
            <a:fillRect/>
          </a:stretch>
        </p:blipFill>
        <p:spPr>
          <a:xfrm>
            <a:off x="755576" y="1806825"/>
            <a:ext cx="432048" cy="532346"/>
          </a:xfrm>
          <a:prstGeom prst="rect">
            <a:avLst/>
          </a:prstGeom>
        </p:spPr>
      </p:pic>
      <p:pic>
        <p:nvPicPr>
          <p:cNvPr id="5" name="Picture 4">
            <a:extLst>
              <a:ext uri="{FF2B5EF4-FFF2-40B4-BE49-F238E27FC236}">
                <a16:creationId xmlns:a16="http://schemas.microsoft.com/office/drawing/2014/main" id="{CD4D2D85-BEE5-1DD3-67CB-363FDF20E365}"/>
              </a:ext>
            </a:extLst>
          </p:cNvPr>
          <p:cNvPicPr>
            <a:picLocks noChangeAspect="1"/>
          </p:cNvPicPr>
          <p:nvPr/>
        </p:nvPicPr>
        <p:blipFill>
          <a:blip r:embed="rId8"/>
          <a:stretch>
            <a:fillRect/>
          </a:stretch>
        </p:blipFill>
        <p:spPr>
          <a:xfrm>
            <a:off x="8331028" y="3319726"/>
            <a:ext cx="439651" cy="519588"/>
          </a:xfrm>
          <a:prstGeom prst="rect">
            <a:avLst/>
          </a:prstGeom>
        </p:spPr>
      </p:pic>
    </p:spTree>
    <p:extLst>
      <p:ext uri="{BB962C8B-B14F-4D97-AF65-F5344CB8AC3E}">
        <p14:creationId xmlns:p14="http://schemas.microsoft.com/office/powerpoint/2010/main" val="1295552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4</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572359" y="1058527"/>
            <a:ext cx="6840760" cy="4164879"/>
          </a:xfrm>
          <a:prstGeom prst="rect">
            <a:avLst/>
          </a:prstGeom>
        </p:spPr>
      </p:pic>
      <p:pic>
        <p:nvPicPr>
          <p:cNvPr id="11" name="Picture 10">
            <a:extLst>
              <a:ext uri="{FF2B5EF4-FFF2-40B4-BE49-F238E27FC236}">
                <a16:creationId xmlns:a16="http://schemas.microsoft.com/office/drawing/2014/main" id="{A81FD7BD-FD4F-88E5-7CF5-229710B57159}"/>
              </a:ext>
            </a:extLst>
          </p:cNvPr>
          <p:cNvPicPr>
            <a:picLocks noChangeAspect="1"/>
          </p:cNvPicPr>
          <p:nvPr/>
        </p:nvPicPr>
        <p:blipFill>
          <a:blip r:embed="rId4"/>
          <a:stretch>
            <a:fillRect/>
          </a:stretch>
        </p:blipFill>
        <p:spPr>
          <a:xfrm>
            <a:off x="7337913" y="2852262"/>
            <a:ext cx="1672695" cy="519588"/>
          </a:xfrm>
          <a:prstGeom prst="rect">
            <a:avLst/>
          </a:prstGeom>
        </p:spPr>
      </p:pic>
      <p:cxnSp>
        <p:nvCxnSpPr>
          <p:cNvPr id="14" name="Straight Arrow Connector 13">
            <a:extLst>
              <a:ext uri="{FF2B5EF4-FFF2-40B4-BE49-F238E27FC236}">
                <a16:creationId xmlns:a16="http://schemas.microsoft.com/office/drawing/2014/main" id="{221B7A09-B922-0822-D59B-580C38982CA4}"/>
              </a:ext>
            </a:extLst>
          </p:cNvPr>
          <p:cNvCxnSpPr>
            <a:cxnSpLocks/>
          </p:cNvCxnSpPr>
          <p:nvPr/>
        </p:nvCxnSpPr>
        <p:spPr>
          <a:xfrm flipV="1">
            <a:off x="7020272" y="3140968"/>
            <a:ext cx="432048" cy="2308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B53D267C-0E36-2228-D211-21E2E34EA1D7}"/>
              </a:ext>
            </a:extLst>
          </p:cNvPr>
          <p:cNvPicPr>
            <a:picLocks noChangeAspect="1"/>
          </p:cNvPicPr>
          <p:nvPr/>
        </p:nvPicPr>
        <p:blipFill>
          <a:blip r:embed="rId5"/>
          <a:stretch>
            <a:fillRect/>
          </a:stretch>
        </p:blipFill>
        <p:spPr>
          <a:xfrm>
            <a:off x="1907704" y="2348880"/>
            <a:ext cx="1512168" cy="384820"/>
          </a:xfrm>
          <a:prstGeom prst="rect">
            <a:avLst/>
          </a:prstGeom>
        </p:spPr>
      </p:pic>
      <p:cxnSp>
        <p:nvCxnSpPr>
          <p:cNvPr id="21" name="Straight Arrow Connector 20">
            <a:extLst>
              <a:ext uri="{FF2B5EF4-FFF2-40B4-BE49-F238E27FC236}">
                <a16:creationId xmlns:a16="http://schemas.microsoft.com/office/drawing/2014/main" id="{6B0F63B8-B409-DC1B-A94C-19FA666BD33C}"/>
              </a:ext>
            </a:extLst>
          </p:cNvPr>
          <p:cNvCxnSpPr>
            <a:cxnSpLocks/>
          </p:cNvCxnSpPr>
          <p:nvPr/>
        </p:nvCxnSpPr>
        <p:spPr>
          <a:xfrm flipV="1">
            <a:off x="1460852" y="2733700"/>
            <a:ext cx="662876" cy="911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59D5079A-DFEF-B63C-CE79-9CCEB61F2371}"/>
              </a:ext>
            </a:extLst>
          </p:cNvPr>
          <p:cNvPicPr>
            <a:picLocks noChangeAspect="1"/>
          </p:cNvPicPr>
          <p:nvPr/>
        </p:nvPicPr>
        <p:blipFill>
          <a:blip r:embed="rId6"/>
          <a:stretch>
            <a:fillRect/>
          </a:stretch>
        </p:blipFill>
        <p:spPr>
          <a:xfrm>
            <a:off x="7488324" y="3353642"/>
            <a:ext cx="432048" cy="532346"/>
          </a:xfrm>
          <a:prstGeom prst="rect">
            <a:avLst/>
          </a:prstGeom>
        </p:spPr>
      </p:pic>
      <p:pic>
        <p:nvPicPr>
          <p:cNvPr id="13" name="Picture 12">
            <a:extLst>
              <a:ext uri="{FF2B5EF4-FFF2-40B4-BE49-F238E27FC236}">
                <a16:creationId xmlns:a16="http://schemas.microsoft.com/office/drawing/2014/main" id="{59D5079A-DFEF-B63C-CE79-9CCEB61F2371}"/>
              </a:ext>
            </a:extLst>
          </p:cNvPr>
          <p:cNvPicPr>
            <a:picLocks noChangeAspect="1"/>
          </p:cNvPicPr>
          <p:nvPr/>
        </p:nvPicPr>
        <p:blipFill>
          <a:blip r:embed="rId6"/>
          <a:stretch>
            <a:fillRect/>
          </a:stretch>
        </p:blipFill>
        <p:spPr>
          <a:xfrm>
            <a:off x="755576" y="1806825"/>
            <a:ext cx="432048" cy="532346"/>
          </a:xfrm>
          <a:prstGeom prst="rect">
            <a:avLst/>
          </a:prstGeom>
        </p:spPr>
      </p:pic>
      <p:pic>
        <p:nvPicPr>
          <p:cNvPr id="7" name="Picture 6"/>
          <p:cNvPicPr>
            <a:picLocks noChangeAspect="1"/>
          </p:cNvPicPr>
          <p:nvPr/>
        </p:nvPicPr>
        <p:blipFill>
          <a:blip r:embed="rId7"/>
          <a:stretch>
            <a:fillRect/>
          </a:stretch>
        </p:blipFill>
        <p:spPr>
          <a:xfrm>
            <a:off x="5015043" y="2815324"/>
            <a:ext cx="637077" cy="651286"/>
          </a:xfrm>
          <a:prstGeom prst="rect">
            <a:avLst/>
          </a:prstGeom>
        </p:spPr>
      </p:pic>
      <p:sp>
        <p:nvSpPr>
          <p:cNvPr id="15" name="Rounded Rectangle 14"/>
          <p:cNvSpPr/>
          <p:nvPr/>
        </p:nvSpPr>
        <p:spPr>
          <a:xfrm>
            <a:off x="5284259" y="4004204"/>
            <a:ext cx="3851920" cy="147627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6/10/2025 </a:t>
            </a:r>
            <a:r>
              <a:rPr lang="en-US" sz="1200" dirty="0" err="1">
                <a:latin typeface="Times New Roman" panose="02020603050405020304" pitchFamily="18" charset="0"/>
                <a:cs typeface="Times New Roman" panose="02020603050405020304" pitchFamily="18" charset="0"/>
              </a:rPr>
              <a:t>đường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mạng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VNPT </a:t>
            </a:r>
            <a:r>
              <a:rPr lang="en-US" sz="1200" dirty="0" err="1">
                <a:latin typeface="Times New Roman" panose="02020603050405020304" pitchFamily="18" charset="0"/>
                <a:cs typeface="Times New Roman" panose="02020603050405020304" pitchFamily="18" charset="0"/>
              </a:rPr>
              <a:t>cấp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máy</a:t>
            </a:r>
            <a:r>
              <a:rPr lang="en-US" sz="1200" dirty="0">
                <a:latin typeface="Times New Roman" panose="02020603050405020304" pitchFamily="18" charset="0"/>
                <a:cs typeface="Times New Roman" panose="02020603050405020304" pitchFamily="18" charset="0"/>
              </a:rPr>
              <a:t> DD2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cố</a:t>
            </a:r>
            <a:r>
              <a:rPr lang="en-US" sz="1200" dirty="0">
                <a:latin typeface="Times New Roman" panose="02020603050405020304" pitchFamily="18" charset="0"/>
                <a:cs typeface="Times New Roman" panose="02020603050405020304" pitchFamily="18" charset="0"/>
              </a:rPr>
              <a:t> do </a:t>
            </a:r>
            <a:r>
              <a:rPr lang="en-US" sz="1200" dirty="0" err="1">
                <a:latin typeface="Times New Roman" panose="02020603050405020304" pitchFamily="18" charset="0"/>
                <a:cs typeface="Times New Roman" panose="02020603050405020304" pitchFamily="18" charset="0"/>
              </a:rPr>
              <a:t>lỗi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tầng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mạng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dẫn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đến</a:t>
            </a:r>
            <a:r>
              <a:rPr lang="en-US" sz="1200" dirty="0">
                <a:latin typeface="Times New Roman" panose="02020603050405020304" pitchFamily="18" charset="0"/>
                <a:cs typeface="Times New Roman" panose="02020603050405020304" pitchFamily="18" charset="0"/>
              </a:rPr>
              <a:t>: </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máy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tính</a:t>
            </a:r>
            <a:r>
              <a:rPr lang="en-US" sz="1200" dirty="0">
                <a:latin typeface="Times New Roman" panose="02020603050405020304" pitchFamily="18" charset="0"/>
                <a:cs typeface="Times New Roman" panose="02020603050405020304" pitchFamily="18" charset="0"/>
              </a:rPr>
              <a:t> DD2 </a:t>
            </a:r>
            <a:r>
              <a:rPr lang="en-US" sz="1200" dirty="0" err="1">
                <a:latin typeface="Times New Roman" panose="02020603050405020304" pitchFamily="18" charset="0"/>
                <a:cs typeface="Times New Roman" panose="02020603050405020304" pitchFamily="18" charset="0"/>
              </a:rPr>
              <a:t>không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gửi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mail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khách</a:t>
            </a:r>
            <a:r>
              <a:rPr lang="en-US" sz="1200" dirty="0">
                <a:latin typeface="Times New Roman" panose="02020603050405020304" pitchFamily="18" charset="0"/>
                <a:cs typeface="Times New Roman" panose="02020603050405020304" pitchFamily="18" charset="0"/>
              </a:rPr>
              <a:t> hang(do </a:t>
            </a:r>
            <a:r>
              <a:rPr lang="en-US" sz="1200" dirty="0" err="1">
                <a:latin typeface="Times New Roman" panose="02020603050405020304" pitchFamily="18" charset="0"/>
                <a:cs typeface="Times New Roman" panose="02020603050405020304" pitchFamily="18" charset="0"/>
              </a:rPr>
              <a:t>mất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nối</a:t>
            </a:r>
            <a:r>
              <a:rPr lang="en-US" sz="1200" dirty="0">
                <a:latin typeface="Times New Roman" panose="02020603050405020304" pitchFamily="18" charset="0"/>
                <a:cs typeface="Times New Roman" panose="02020603050405020304" pitchFamily="18" charset="0"/>
              </a:rPr>
              <a:t> internet)</a:t>
            </a:r>
          </a:p>
          <a:p>
            <a:r>
              <a:rPr lang="en-US" sz="1200" dirty="0">
                <a:latin typeface="Times New Roman" panose="02020603050405020304" pitchFamily="18" charset="0"/>
                <a:cs typeface="Times New Roman" panose="02020603050405020304" pitchFamily="18" charset="0"/>
              </a:rPr>
              <a:t>+ </a:t>
            </a:r>
            <a:r>
              <a:rPr lang="en-US" sz="1200" err="1">
                <a:latin typeface="Times New Roman" panose="02020603050405020304" pitchFamily="18" charset="0"/>
                <a:cs typeface="Times New Roman" panose="02020603050405020304" pitchFamily="18" charset="0"/>
              </a:rPr>
              <a:t>máy</a:t>
            </a:r>
            <a:r>
              <a:rPr lang="en-US" sz="1200">
                <a:latin typeface="Times New Roman" panose="02020603050405020304" pitchFamily="18" charset="0"/>
                <a:cs typeface="Times New Roman" panose="02020603050405020304" pitchFamily="18" charset="0"/>
              </a:rPr>
              <a:t> tính DD2 </a:t>
            </a:r>
            <a:r>
              <a:rPr lang="en-US" sz="1200" dirty="0" err="1">
                <a:latin typeface="Times New Roman" panose="02020603050405020304" pitchFamily="18" charset="0"/>
                <a:cs typeface="Times New Roman" panose="02020603050405020304" pitchFamily="18" charset="0"/>
              </a:rPr>
              <a:t>không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thể</a:t>
            </a:r>
            <a:r>
              <a:rPr lang="en-US" sz="1200" dirty="0">
                <a:latin typeface="Times New Roman" panose="02020603050405020304" pitchFamily="18" charset="0"/>
                <a:cs typeface="Times New Roman" panose="02020603050405020304" pitchFamily="18" charset="0"/>
              </a:rPr>
              <a:t> </a:t>
            </a:r>
            <a:r>
              <a:rPr lang="en-US" sz="1200" err="1">
                <a:latin typeface="Times New Roman" panose="02020603050405020304" pitchFamily="18" charset="0"/>
                <a:cs typeface="Times New Roman" panose="02020603050405020304" pitchFamily="18" charset="0"/>
              </a:rPr>
              <a:t>đăng</a:t>
            </a:r>
            <a:r>
              <a:rPr lang="en-US" sz="1200">
                <a:latin typeface="Times New Roman" panose="02020603050405020304" pitchFamily="18" charset="0"/>
                <a:cs typeface="Times New Roman" panose="02020603050405020304" pitchFamily="18" charset="0"/>
              </a:rPr>
              <a:t> nhập, sử dụng dữ liệu của DD1, đăng nhập hệ thống HRM.( Nguyên nhân ?)</a:t>
            </a:r>
            <a:endParaRPr lang="en-US" sz="1200" dirty="0">
              <a:latin typeface="Times New Roman" panose="02020603050405020304" pitchFamily="18" charset="0"/>
              <a:cs typeface="Times New Roman" panose="02020603050405020304" pitchFamily="18" charset="0"/>
            </a:endParaRPr>
          </a:p>
          <a:p>
            <a:pPr algn="ct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 </a:t>
            </a:r>
          </a:p>
        </p:txBody>
      </p:sp>
      <p:sp>
        <p:nvSpPr>
          <p:cNvPr id="16" name="Rounded Rectangle 15"/>
          <p:cNvSpPr/>
          <p:nvPr/>
        </p:nvSpPr>
        <p:spPr>
          <a:xfrm>
            <a:off x="755576" y="5799472"/>
            <a:ext cx="8280920" cy="53315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b="1" u="sng">
                <a:latin typeface="Times New Roman" panose="02020603050405020304" pitchFamily="18" charset="0"/>
                <a:cs typeface="Times New Roman" panose="02020603050405020304" pitchFamily="18" charset="0"/>
              </a:rPr>
              <a:t>Vấn đề</a:t>
            </a:r>
            <a:r>
              <a:rPr lang="en-US" sz="1200">
                <a:latin typeface="Times New Roman" panose="02020603050405020304" pitchFamily="18" charset="0"/>
                <a:cs typeface="Times New Roman" panose="02020603050405020304" pitchFamily="18" charset="0"/>
              </a:rPr>
              <a:t>: Nếu mỗi nhà máy chúng ta </a:t>
            </a:r>
            <a:r>
              <a:rPr lang="en-US" sz="1200" u="sng">
                <a:latin typeface="Times New Roman" panose="02020603050405020304" pitchFamily="18" charset="0"/>
                <a:cs typeface="Times New Roman" panose="02020603050405020304" pitchFamily="18" charset="0"/>
              </a:rPr>
              <a:t>chỉ triển khai 1 đường mạng của 1 nhà mạng duy nhất </a:t>
            </a:r>
            <a:r>
              <a:rPr lang="en-US" sz="1200">
                <a:latin typeface="Times New Roman" panose="02020603050405020304" pitchFamily="18" charset="0"/>
                <a:cs typeface="Times New Roman" panose="02020603050405020304" pitchFamily="18" charset="0"/>
              </a:rPr>
              <a:t>thì khi nhà mạng có sự cố hạ tầng sẽ gây ra ảnh hưởng rất lớn đến tiến độ công việc của công ty</a:t>
            </a:r>
            <a:endParaRPr lang="en-US" sz="1200" dirty="0">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97DF124A-98D9-72C3-A926-BCC46F8E09F6}"/>
              </a:ext>
            </a:extLst>
          </p:cNvPr>
          <p:cNvSpPr/>
          <p:nvPr/>
        </p:nvSpPr>
        <p:spPr>
          <a:xfrm rot="4555870">
            <a:off x="5062769" y="3493484"/>
            <a:ext cx="778539" cy="236179"/>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163BA03C-1B88-3B9D-0449-753276AA557D}"/>
              </a:ext>
            </a:extLst>
          </p:cNvPr>
          <p:cNvSpPr/>
          <p:nvPr/>
        </p:nvSpPr>
        <p:spPr>
          <a:xfrm>
            <a:off x="73832" y="5910379"/>
            <a:ext cx="648072" cy="311337"/>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タイトル 1">
            <a:extLst>
              <a:ext uri="{FF2B5EF4-FFF2-40B4-BE49-F238E27FC236}">
                <a16:creationId xmlns:a16="http://schemas.microsoft.com/office/drawing/2014/main" id="{127CFF92-8047-BFE4-7892-ED96E932B852}"/>
              </a:ext>
            </a:extLst>
          </p:cNvPr>
          <p:cNvSpPr txBox="1">
            <a:spLocks/>
          </p:cNvSpPr>
          <p:nvPr/>
        </p:nvSpPr>
        <p:spPr>
          <a:xfrm>
            <a:off x="41480" y="211893"/>
            <a:ext cx="4386504" cy="504056"/>
          </a:xfrm>
          <a:prstGeom prst="rect">
            <a:avLst/>
          </a:prstGeom>
          <a:noFill/>
        </p:spPr>
        <p:txBody>
          <a:bodyPr lIns="0" tIns="36000" rIns="0" bIns="36000" anchor="ctr">
            <a:noAutofit/>
          </a:bodyPr>
          <a:lstStyle>
            <a:lvl1pPr algn="ctr" defTabSz="914400" rtl="0" eaLnBrk="1" latinLnBrk="0" hangingPunct="1">
              <a:spcBef>
                <a:spcPct val="0"/>
              </a:spcBef>
              <a:buNone/>
              <a:defRPr kumimoji="1" sz="3500" b="1" kern="1200">
                <a:solidFill>
                  <a:srgbClr val="002060"/>
                </a:solidFill>
                <a:latin typeface="Arial" panose="020B0604020202020204" pitchFamily="34" charset="0"/>
                <a:ea typeface="+mj-ea"/>
                <a:cs typeface="Arial" panose="020B0604020202020204" pitchFamily="34" charset="0"/>
              </a:defRPr>
            </a:lvl1pPr>
          </a:lstStyle>
          <a:p>
            <a:r>
              <a:rPr lang="en-US" altLang="ja-JP" sz="1600">
                <a:latin typeface="Times New Roman" panose="02020603050405020304" pitchFamily="18" charset="0"/>
                <a:cs typeface="Times New Roman" panose="02020603050405020304" pitchFamily="18" charset="0"/>
              </a:rPr>
              <a:t> II) VẤN ĐỀ MÔ HÌNH MẠNG CỦA CÔNG TY</a:t>
            </a:r>
            <a:endParaRPr lang="en-US" altLang="ja-JP"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083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5</a:t>
            </a:fld>
            <a:endParaRPr kumimoji="1" lang="ja-JP" altLang="en-US">
              <a:latin typeface="+mn-lt"/>
            </a:endParaRPr>
          </a:p>
        </p:txBody>
      </p:sp>
      <p:sp>
        <p:nvSpPr>
          <p:cNvPr id="16" name="Rounded Rectangle 15"/>
          <p:cNvSpPr/>
          <p:nvPr/>
        </p:nvSpPr>
        <p:spPr>
          <a:xfrm>
            <a:off x="761256" y="5589491"/>
            <a:ext cx="8280920" cy="86384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u="sng">
                <a:latin typeface="Times New Roman" panose="02020603050405020304" pitchFamily="18" charset="0"/>
                <a:cs typeface="Times New Roman" panose="02020603050405020304" pitchFamily="18" charset="0"/>
              </a:rPr>
              <a:t>Giải pháp</a:t>
            </a:r>
            <a:r>
              <a:rPr lang="en-US" sz="1400">
                <a:latin typeface="Times New Roman" panose="02020603050405020304" pitchFamily="18" charset="0"/>
                <a:cs typeface="Times New Roman" panose="02020603050405020304" pitchFamily="18" charset="0"/>
              </a:rPr>
              <a:t>: Mỗi nhà máy triển khai thêm 1 đường mạng của 1 nhà mạng khác để:</a:t>
            </a:r>
          </a:p>
          <a:p>
            <a:r>
              <a:rPr lang="en-US" sz="1400">
                <a:latin typeface="Times New Roman" panose="02020603050405020304" pitchFamily="18" charset="0"/>
                <a:cs typeface="Times New Roman" panose="02020603050405020304" pitchFamily="18" charset="0"/>
              </a:rPr>
              <a:t>+) Dự phòng khi 1 trong 2 đường mạng bị sự cố thì vẫn có thể truy cập Internet, dữ liệu công ty qua đường mạng còn lại.</a:t>
            </a:r>
          </a:p>
          <a:p>
            <a:r>
              <a:rPr lang="en-US" sz="1400">
                <a:latin typeface="Times New Roman" panose="02020603050405020304" pitchFamily="18" charset="0"/>
                <a:cs typeface="Times New Roman" panose="02020603050405020304" pitchFamily="18" charset="0"/>
              </a:rPr>
              <a:t>+) Tăng tốc độ truy cập mạng do băng thông được mở rộng.</a:t>
            </a:r>
            <a:endParaRPr lang="en-US" sz="1400" dirty="0">
              <a:latin typeface="Times New Roman" panose="02020603050405020304" pitchFamily="18" charset="0"/>
              <a:cs typeface="Times New Roman" panose="02020603050405020304" pitchFamily="18" charset="0"/>
            </a:endParaRPr>
          </a:p>
        </p:txBody>
      </p:sp>
      <p:sp>
        <p:nvSpPr>
          <p:cNvPr id="5" name="Arrow: Right 4">
            <a:extLst>
              <a:ext uri="{FF2B5EF4-FFF2-40B4-BE49-F238E27FC236}">
                <a16:creationId xmlns:a16="http://schemas.microsoft.com/office/drawing/2014/main" id="{163BA03C-1B88-3B9D-0449-753276AA557D}"/>
              </a:ext>
            </a:extLst>
          </p:cNvPr>
          <p:cNvSpPr/>
          <p:nvPr/>
        </p:nvSpPr>
        <p:spPr>
          <a:xfrm>
            <a:off x="101824" y="5700400"/>
            <a:ext cx="648072" cy="311337"/>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タイトル 1">
            <a:extLst>
              <a:ext uri="{FF2B5EF4-FFF2-40B4-BE49-F238E27FC236}">
                <a16:creationId xmlns:a16="http://schemas.microsoft.com/office/drawing/2014/main" id="{127CFF92-8047-BFE4-7892-ED96E932B852}"/>
              </a:ext>
            </a:extLst>
          </p:cNvPr>
          <p:cNvSpPr txBox="1">
            <a:spLocks/>
          </p:cNvSpPr>
          <p:nvPr/>
        </p:nvSpPr>
        <p:spPr>
          <a:xfrm>
            <a:off x="-7911" y="210985"/>
            <a:ext cx="4890560" cy="504056"/>
          </a:xfrm>
          <a:prstGeom prst="rect">
            <a:avLst/>
          </a:prstGeom>
          <a:noFill/>
        </p:spPr>
        <p:txBody>
          <a:bodyPr lIns="0" tIns="36000" rIns="0" bIns="36000" anchor="ctr">
            <a:noAutofit/>
          </a:bodyPr>
          <a:lstStyle>
            <a:lvl1pPr algn="ctr" defTabSz="914400" rtl="0" eaLnBrk="1" latinLnBrk="0" hangingPunct="1">
              <a:spcBef>
                <a:spcPct val="0"/>
              </a:spcBef>
              <a:buNone/>
              <a:defRPr kumimoji="1" sz="3500" b="1" kern="1200">
                <a:solidFill>
                  <a:srgbClr val="002060"/>
                </a:solidFill>
                <a:latin typeface="Arial" panose="020B0604020202020204" pitchFamily="34" charset="0"/>
                <a:ea typeface="+mj-ea"/>
                <a:cs typeface="Arial" panose="020B0604020202020204" pitchFamily="34" charset="0"/>
              </a:defRPr>
            </a:lvl1pPr>
          </a:lstStyle>
          <a:p>
            <a:r>
              <a:rPr lang="en-US" altLang="ja-JP" sz="1600">
                <a:latin typeface="Times New Roman" panose="02020603050405020304" pitchFamily="18" charset="0"/>
                <a:cs typeface="Times New Roman" panose="02020603050405020304" pitchFamily="18" charset="0"/>
              </a:rPr>
              <a:t> III) GIẢI PHÁP MÔ HÌNH MẠNG CỦA CÔNG TY</a:t>
            </a:r>
            <a:endParaRPr lang="en-US" altLang="ja-JP"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4B43793-9E9D-12CE-2608-0C50184B27C4}"/>
              </a:ext>
            </a:extLst>
          </p:cNvPr>
          <p:cNvPicPr>
            <a:picLocks noChangeAspect="1"/>
          </p:cNvPicPr>
          <p:nvPr/>
        </p:nvPicPr>
        <p:blipFill>
          <a:blip r:embed="rId3"/>
          <a:stretch>
            <a:fillRect/>
          </a:stretch>
        </p:blipFill>
        <p:spPr>
          <a:xfrm>
            <a:off x="539552" y="1149419"/>
            <a:ext cx="7308304" cy="4389461"/>
          </a:xfrm>
          <a:prstGeom prst="rect">
            <a:avLst/>
          </a:prstGeom>
        </p:spPr>
      </p:pic>
      <p:sp>
        <p:nvSpPr>
          <p:cNvPr id="10" name="Rectangle: Rounded Corners 9">
            <a:extLst>
              <a:ext uri="{FF2B5EF4-FFF2-40B4-BE49-F238E27FC236}">
                <a16:creationId xmlns:a16="http://schemas.microsoft.com/office/drawing/2014/main" id="{11689E29-B0BF-CB13-DC5B-92F6AE0D2197}"/>
              </a:ext>
            </a:extLst>
          </p:cNvPr>
          <p:cNvSpPr/>
          <p:nvPr/>
        </p:nvSpPr>
        <p:spPr>
          <a:xfrm>
            <a:off x="2834444" y="4293096"/>
            <a:ext cx="1368152" cy="144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latin typeface="Times New Roman" panose="02020603050405020304" pitchFamily="18" charset="0"/>
                <a:cs typeface="Times New Roman" panose="02020603050405020304" pitchFamily="18" charset="0"/>
              </a:rPr>
              <a:t>19,8 triệu(có VAT)</a:t>
            </a:r>
          </a:p>
        </p:txBody>
      </p:sp>
      <p:sp>
        <p:nvSpPr>
          <p:cNvPr id="12" name="Rectangle: Rounded Corners 11">
            <a:extLst>
              <a:ext uri="{FF2B5EF4-FFF2-40B4-BE49-F238E27FC236}">
                <a16:creationId xmlns:a16="http://schemas.microsoft.com/office/drawing/2014/main" id="{76BCBE59-5124-706E-951F-31E30BE167B8}"/>
              </a:ext>
            </a:extLst>
          </p:cNvPr>
          <p:cNvSpPr/>
          <p:nvPr/>
        </p:nvSpPr>
        <p:spPr>
          <a:xfrm>
            <a:off x="5508104" y="3645024"/>
            <a:ext cx="1368152" cy="144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latin typeface="Times New Roman" panose="02020603050405020304" pitchFamily="18" charset="0"/>
                <a:cs typeface="Times New Roman" panose="02020603050405020304" pitchFamily="18" charset="0"/>
              </a:rPr>
              <a:t>26,4 triệu(có VAT)</a:t>
            </a:r>
          </a:p>
        </p:txBody>
      </p:sp>
    </p:spTree>
    <p:extLst>
      <p:ext uri="{BB962C8B-B14F-4D97-AF65-F5344CB8AC3E}">
        <p14:creationId xmlns:p14="http://schemas.microsoft.com/office/powerpoint/2010/main" val="3253731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6</a:t>
            </a:fld>
            <a:endParaRPr kumimoji="1" lang="ja-JP" altLang="en-US">
              <a:latin typeface="+mn-lt"/>
            </a:endParaRPr>
          </a:p>
        </p:txBody>
      </p:sp>
      <p:sp>
        <p:nvSpPr>
          <p:cNvPr id="6" name="タイトル 1">
            <a:extLst>
              <a:ext uri="{FF2B5EF4-FFF2-40B4-BE49-F238E27FC236}">
                <a16:creationId xmlns:a16="http://schemas.microsoft.com/office/drawing/2014/main" id="{127CFF92-8047-BFE4-7892-ED96E932B852}"/>
              </a:ext>
            </a:extLst>
          </p:cNvPr>
          <p:cNvSpPr txBox="1">
            <a:spLocks/>
          </p:cNvSpPr>
          <p:nvPr/>
        </p:nvSpPr>
        <p:spPr>
          <a:xfrm>
            <a:off x="-7911" y="210985"/>
            <a:ext cx="4890560" cy="504056"/>
          </a:xfrm>
          <a:prstGeom prst="rect">
            <a:avLst/>
          </a:prstGeom>
          <a:noFill/>
        </p:spPr>
        <p:txBody>
          <a:bodyPr lIns="0" tIns="36000" rIns="0" bIns="36000" anchor="ctr">
            <a:noAutofit/>
          </a:bodyPr>
          <a:lstStyle>
            <a:lvl1pPr algn="ctr" defTabSz="914400" rtl="0" eaLnBrk="1" latinLnBrk="0" hangingPunct="1">
              <a:spcBef>
                <a:spcPct val="0"/>
              </a:spcBef>
              <a:buNone/>
              <a:defRPr kumimoji="1" sz="3500" b="1" kern="1200">
                <a:solidFill>
                  <a:srgbClr val="002060"/>
                </a:solidFill>
                <a:latin typeface="Arial" panose="020B0604020202020204" pitchFamily="34" charset="0"/>
                <a:ea typeface="+mj-ea"/>
                <a:cs typeface="Arial" panose="020B0604020202020204" pitchFamily="34" charset="0"/>
              </a:defRPr>
            </a:lvl1pPr>
          </a:lstStyle>
          <a:p>
            <a:r>
              <a:rPr lang="en-US" altLang="ja-JP" sz="1600">
                <a:latin typeface="Times New Roman" panose="02020603050405020304" pitchFamily="18" charset="0"/>
                <a:cs typeface="Times New Roman" panose="02020603050405020304" pitchFamily="18" charset="0"/>
              </a:rPr>
              <a:t> III) GIẢI PHÁP MÔ HÌNH MẠNG CỦA CÔNG TY</a:t>
            </a:r>
            <a:endParaRPr lang="en-US" altLang="ja-JP"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4B43793-9E9D-12CE-2608-0C50184B27C4}"/>
              </a:ext>
            </a:extLst>
          </p:cNvPr>
          <p:cNvPicPr>
            <a:picLocks noChangeAspect="1"/>
          </p:cNvPicPr>
          <p:nvPr/>
        </p:nvPicPr>
        <p:blipFill>
          <a:blip r:embed="rId3"/>
          <a:stretch>
            <a:fillRect/>
          </a:stretch>
        </p:blipFill>
        <p:spPr>
          <a:xfrm>
            <a:off x="467544" y="1052736"/>
            <a:ext cx="8208912" cy="4389461"/>
          </a:xfrm>
          <a:prstGeom prst="rect">
            <a:avLst/>
          </a:prstGeom>
        </p:spPr>
      </p:pic>
      <p:sp>
        <p:nvSpPr>
          <p:cNvPr id="10" name="Rectangle: Rounded Corners 9">
            <a:extLst>
              <a:ext uri="{FF2B5EF4-FFF2-40B4-BE49-F238E27FC236}">
                <a16:creationId xmlns:a16="http://schemas.microsoft.com/office/drawing/2014/main" id="{11689E29-B0BF-CB13-DC5B-92F6AE0D2197}"/>
              </a:ext>
            </a:extLst>
          </p:cNvPr>
          <p:cNvSpPr/>
          <p:nvPr/>
        </p:nvSpPr>
        <p:spPr>
          <a:xfrm>
            <a:off x="2834444" y="4293096"/>
            <a:ext cx="1368152" cy="14401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latin typeface="Times New Roman" panose="02020603050405020304" pitchFamily="18" charset="0"/>
                <a:cs typeface="Times New Roman" panose="02020603050405020304" pitchFamily="18" charset="0"/>
              </a:rPr>
              <a:t>19,8 triệu(có VAT)</a:t>
            </a:r>
          </a:p>
        </p:txBody>
      </p:sp>
      <p:sp>
        <p:nvSpPr>
          <p:cNvPr id="12" name="Rectangle: Rounded Corners 11">
            <a:extLst>
              <a:ext uri="{FF2B5EF4-FFF2-40B4-BE49-F238E27FC236}">
                <a16:creationId xmlns:a16="http://schemas.microsoft.com/office/drawing/2014/main" id="{76BCBE59-5124-706E-951F-31E30BE167B8}"/>
              </a:ext>
            </a:extLst>
          </p:cNvPr>
          <p:cNvSpPr/>
          <p:nvPr/>
        </p:nvSpPr>
        <p:spPr>
          <a:xfrm>
            <a:off x="6019246" y="3429000"/>
            <a:ext cx="1289058" cy="23230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latin typeface="Times New Roman" panose="02020603050405020304" pitchFamily="18" charset="0"/>
                <a:cs typeface="Times New Roman" panose="02020603050405020304" pitchFamily="18" charset="0"/>
              </a:rPr>
              <a:t>26,4 triệu(có VAT)</a:t>
            </a:r>
          </a:p>
        </p:txBody>
      </p:sp>
      <p:pic>
        <p:nvPicPr>
          <p:cNvPr id="3" name="Picture 2">
            <a:extLst>
              <a:ext uri="{FF2B5EF4-FFF2-40B4-BE49-F238E27FC236}">
                <a16:creationId xmlns:a16="http://schemas.microsoft.com/office/drawing/2014/main" id="{B6725E6F-E5DD-9E5C-D95E-A12C1514583D}"/>
              </a:ext>
            </a:extLst>
          </p:cNvPr>
          <p:cNvPicPr>
            <a:picLocks noChangeAspect="1"/>
          </p:cNvPicPr>
          <p:nvPr/>
        </p:nvPicPr>
        <p:blipFill>
          <a:blip r:embed="rId4"/>
          <a:stretch>
            <a:fillRect/>
          </a:stretch>
        </p:blipFill>
        <p:spPr>
          <a:xfrm>
            <a:off x="5220072" y="5398231"/>
            <a:ext cx="3778772" cy="1079649"/>
          </a:xfrm>
          <a:prstGeom prst="rect">
            <a:avLst/>
          </a:prstGeom>
        </p:spPr>
      </p:pic>
      <p:sp>
        <p:nvSpPr>
          <p:cNvPr id="7" name="Rectangle: Rounded Corners 6">
            <a:extLst>
              <a:ext uri="{FF2B5EF4-FFF2-40B4-BE49-F238E27FC236}">
                <a16:creationId xmlns:a16="http://schemas.microsoft.com/office/drawing/2014/main" id="{DC6E891F-ECA4-0586-0561-2BFC16C31D13}"/>
              </a:ext>
            </a:extLst>
          </p:cNvPr>
          <p:cNvSpPr/>
          <p:nvPr/>
        </p:nvSpPr>
        <p:spPr>
          <a:xfrm>
            <a:off x="5214189" y="5147800"/>
            <a:ext cx="3672408" cy="20083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Gói cước nhà mạng MobiFone</a:t>
            </a:r>
          </a:p>
        </p:txBody>
      </p:sp>
      <p:sp>
        <p:nvSpPr>
          <p:cNvPr id="9" name="Rectangle: Rounded Corners 8">
            <a:extLst>
              <a:ext uri="{FF2B5EF4-FFF2-40B4-BE49-F238E27FC236}">
                <a16:creationId xmlns:a16="http://schemas.microsoft.com/office/drawing/2014/main" id="{04106A4E-43A7-8EBD-0C63-C00BA98A7CD7}"/>
              </a:ext>
            </a:extLst>
          </p:cNvPr>
          <p:cNvSpPr/>
          <p:nvPr/>
        </p:nvSpPr>
        <p:spPr>
          <a:xfrm>
            <a:off x="6156176" y="2275787"/>
            <a:ext cx="1431336" cy="200832"/>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6 triệu(có VAT)</a:t>
            </a:r>
          </a:p>
        </p:txBody>
      </p:sp>
      <p:sp>
        <p:nvSpPr>
          <p:cNvPr id="11" name="Rectangle: Rounded Corners 10">
            <a:extLst>
              <a:ext uri="{FF2B5EF4-FFF2-40B4-BE49-F238E27FC236}">
                <a16:creationId xmlns:a16="http://schemas.microsoft.com/office/drawing/2014/main" id="{40EE28A8-E290-5890-739C-CC4B4012DB2C}"/>
              </a:ext>
            </a:extLst>
          </p:cNvPr>
          <p:cNvSpPr/>
          <p:nvPr/>
        </p:nvSpPr>
        <p:spPr>
          <a:xfrm>
            <a:off x="5562110" y="4060465"/>
            <a:ext cx="1188132" cy="20083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6 triệu(có VAT)</a:t>
            </a:r>
          </a:p>
        </p:txBody>
      </p:sp>
      <p:sp>
        <p:nvSpPr>
          <p:cNvPr id="13" name="Rectangle: Rounded Corners 12">
            <a:extLst>
              <a:ext uri="{FF2B5EF4-FFF2-40B4-BE49-F238E27FC236}">
                <a16:creationId xmlns:a16="http://schemas.microsoft.com/office/drawing/2014/main" id="{83D39B48-71DF-775D-9F24-7EE4BF92E2D0}"/>
              </a:ext>
            </a:extLst>
          </p:cNvPr>
          <p:cNvSpPr/>
          <p:nvPr/>
        </p:nvSpPr>
        <p:spPr>
          <a:xfrm>
            <a:off x="1763689" y="2357994"/>
            <a:ext cx="1224136" cy="237249"/>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6 triệu(có VAT)</a:t>
            </a:r>
          </a:p>
        </p:txBody>
      </p:sp>
      <p:sp>
        <p:nvSpPr>
          <p:cNvPr id="14" name="Rectangle: Rounded Corners 13">
            <a:extLst>
              <a:ext uri="{FF2B5EF4-FFF2-40B4-BE49-F238E27FC236}">
                <a16:creationId xmlns:a16="http://schemas.microsoft.com/office/drawing/2014/main" id="{FB044668-64D0-E6B4-98A7-3DA631AC9568}"/>
              </a:ext>
            </a:extLst>
          </p:cNvPr>
          <p:cNvSpPr/>
          <p:nvPr/>
        </p:nvSpPr>
        <p:spPr>
          <a:xfrm>
            <a:off x="1353344" y="3429000"/>
            <a:ext cx="1468760" cy="2160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latin typeface="Times New Roman" panose="02020603050405020304" pitchFamily="18" charset="0"/>
                <a:cs typeface="Times New Roman" panose="02020603050405020304" pitchFamily="18" charset="0"/>
              </a:rPr>
              <a:t>15,840 triệu(có VAT)</a:t>
            </a:r>
          </a:p>
        </p:txBody>
      </p:sp>
      <p:sp>
        <p:nvSpPr>
          <p:cNvPr id="15" name="Rectangle: Rounded Corners 14">
            <a:extLst>
              <a:ext uri="{FF2B5EF4-FFF2-40B4-BE49-F238E27FC236}">
                <a16:creationId xmlns:a16="http://schemas.microsoft.com/office/drawing/2014/main" id="{736A8344-A43C-F97A-89B7-3DB1E1E64D27}"/>
              </a:ext>
            </a:extLst>
          </p:cNvPr>
          <p:cNvSpPr/>
          <p:nvPr/>
        </p:nvSpPr>
        <p:spPr>
          <a:xfrm>
            <a:off x="259735" y="5444647"/>
            <a:ext cx="4890559" cy="10585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r>
              <a:rPr lang="en-US" sz="1400" b="1" u="sng">
                <a:latin typeface="Times New Roman" panose="02020603050405020304" pitchFamily="18" charset="0"/>
                <a:cs typeface="Times New Roman" panose="02020603050405020304" pitchFamily="18" charset="0"/>
              </a:rPr>
              <a:t>Giải pháp</a:t>
            </a:r>
            <a:r>
              <a:rPr lang="en-US" sz="1200">
                <a:latin typeface="Times New Roman" panose="02020603050405020304" pitchFamily="18" charset="0"/>
                <a:cs typeface="Times New Roman" panose="02020603050405020304" pitchFamily="18" charset="0"/>
              </a:rPr>
              <a:t>: Mỗi nhà máy triển khai thêm 1 đường mạng của 1 nhà mạng khác để:</a:t>
            </a:r>
          </a:p>
          <a:p>
            <a:r>
              <a:rPr lang="en-US" sz="1200">
                <a:latin typeface="Times New Roman" panose="02020603050405020304" pitchFamily="18" charset="0"/>
                <a:cs typeface="Times New Roman" panose="02020603050405020304" pitchFamily="18" charset="0"/>
              </a:rPr>
              <a:t>+) Dự phòng khi 1 trong 2 đường mạng bị sự cố thì vẫn có thể truy cập Internet, dữ liệu công ty qua đường mạng còn lại.</a:t>
            </a:r>
          </a:p>
          <a:p>
            <a:r>
              <a:rPr lang="en-US" sz="1200">
                <a:latin typeface="Times New Roman" panose="02020603050405020304" pitchFamily="18" charset="0"/>
                <a:cs typeface="Times New Roman" panose="02020603050405020304" pitchFamily="18" charset="0"/>
              </a:rPr>
              <a:t>+) Tăng tốc độ truy cập mạng do băng thông được mở rộng.</a:t>
            </a:r>
            <a:endParaRPr lang="en-US" sz="1200" dirty="0">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620F8D13-6802-F79B-7359-8938A688CB10}"/>
              </a:ext>
            </a:extLst>
          </p:cNvPr>
          <p:cNvSpPr/>
          <p:nvPr/>
        </p:nvSpPr>
        <p:spPr>
          <a:xfrm>
            <a:off x="6555136" y="4592520"/>
            <a:ext cx="1833288" cy="24031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Tổng giá: 18 triệu/ năm</a:t>
            </a:r>
          </a:p>
        </p:txBody>
      </p:sp>
    </p:spTree>
    <p:extLst>
      <p:ext uri="{BB962C8B-B14F-4D97-AF65-F5344CB8AC3E}">
        <p14:creationId xmlns:p14="http://schemas.microsoft.com/office/powerpoint/2010/main" val="572244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7</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471339" y="1307449"/>
            <a:ext cx="5832648" cy="3551108"/>
          </a:xfrm>
          <a:prstGeom prst="rect">
            <a:avLst/>
          </a:prstGeom>
        </p:spPr>
      </p:pic>
      <p:sp>
        <p:nvSpPr>
          <p:cNvPr id="3" name="TextBox 2">
            <a:extLst>
              <a:ext uri="{FF2B5EF4-FFF2-40B4-BE49-F238E27FC236}">
                <a16:creationId xmlns:a16="http://schemas.microsoft.com/office/drawing/2014/main" id="{AB8A9502-D629-5EE6-2395-D1818F6873D4}"/>
              </a:ext>
            </a:extLst>
          </p:cNvPr>
          <p:cNvSpPr txBox="1"/>
          <p:nvPr/>
        </p:nvSpPr>
        <p:spPr>
          <a:xfrm>
            <a:off x="204714" y="911612"/>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p:txBody>
      </p:sp>
      <p:sp>
        <p:nvSpPr>
          <p:cNvPr id="5" name="TextBox 4">
            <a:extLst>
              <a:ext uri="{FF2B5EF4-FFF2-40B4-BE49-F238E27FC236}">
                <a16:creationId xmlns:a16="http://schemas.microsoft.com/office/drawing/2014/main" id="{7F6CEBD1-28EB-ACD8-EF7D-5930D5AAFD99}"/>
              </a:ext>
            </a:extLst>
          </p:cNvPr>
          <p:cNvSpPr txBox="1"/>
          <p:nvPr/>
        </p:nvSpPr>
        <p:spPr>
          <a:xfrm>
            <a:off x="323528" y="4977554"/>
            <a:ext cx="8568952" cy="1169551"/>
          </a:xfrm>
          <a:prstGeom prst="rect">
            <a:avLst/>
          </a:prstGeom>
          <a:noFill/>
        </p:spPr>
        <p:txBody>
          <a:bodyPr wrap="square" rtlCol="0">
            <a:spAutoFit/>
          </a:bodyPr>
          <a:lstStyle/>
          <a:p>
            <a:pPr marL="285750" indent="-285750">
              <a:buFontTx/>
              <a:buChar char="-"/>
            </a:pPr>
            <a:r>
              <a:rPr lang="en-US" sz="1400">
                <a:latin typeface="Times New Roman" panose="02020603050405020304" pitchFamily="18" charset="0"/>
                <a:cs typeface="Times New Roman" panose="02020603050405020304" pitchFamily="18" charset="0"/>
              </a:rPr>
              <a:t>CNV sử dụng Mail Outlook để trao đổi công việc nội bộ công ty hoặc là liên lạc công việc với đối tác, khách hàng (3 nhà máy).</a:t>
            </a:r>
          </a:p>
          <a:p>
            <a:pPr marL="285750" indent="-285750">
              <a:buFontTx/>
              <a:buChar char="-"/>
            </a:pPr>
            <a:r>
              <a:rPr lang="en-US" sz="1400">
                <a:latin typeface="Times New Roman" panose="02020603050405020304" pitchFamily="18" charset="0"/>
                <a:cs typeface="Times New Roman" panose="02020603050405020304" pitchFamily="18" charset="0"/>
              </a:rPr>
              <a:t>Nhóm Hải Quan cần sử dụng mạng Internet để truy cập hệ thống hải quan để khai báo thủ tục, giấy tờ liên quan. </a:t>
            </a:r>
          </a:p>
          <a:p>
            <a:pPr marL="285750" indent="-285750">
              <a:buFontTx/>
              <a:buChar char="-"/>
            </a:pPr>
            <a:r>
              <a:rPr lang="en-US" sz="1400">
                <a:latin typeface="Times New Roman" panose="02020603050405020304" pitchFamily="18" charset="0"/>
                <a:cs typeface="Times New Roman" panose="02020603050405020304" pitchFamily="18" charset="0"/>
              </a:rPr>
              <a:t>Nhóm Marketing truy cập Internet để quản lý Fanpage công ty trên Facebook…..</a:t>
            </a:r>
          </a:p>
          <a:p>
            <a:pPr marL="285750" indent="-285750">
              <a:buFontTx/>
              <a:buChar char="-"/>
            </a:pPr>
            <a:r>
              <a:rPr lang="en-US" sz="1400">
                <a:latin typeface="Times New Roman" panose="02020603050405020304" pitchFamily="18" charset="0"/>
                <a:cs typeface="Times New Roman" panose="02020603050405020304" pitchFamily="18" charset="0"/>
              </a:rPr>
              <a:t>Nhóm QC truy cập trang Web của Brother để cập nhật dữ liệu của khách hàng….</a:t>
            </a:r>
          </a:p>
        </p:txBody>
      </p:sp>
      <p:sp>
        <p:nvSpPr>
          <p:cNvPr id="6" name="TextBox 5">
            <a:extLst>
              <a:ext uri="{FF2B5EF4-FFF2-40B4-BE49-F238E27FC236}">
                <a16:creationId xmlns:a16="http://schemas.microsoft.com/office/drawing/2014/main" id="{2A015554-D9F3-75F6-BC5B-8C4C7522AB2C}"/>
              </a:ext>
            </a:extLst>
          </p:cNvPr>
          <p:cNvSpPr txBox="1"/>
          <p:nvPr/>
        </p:nvSpPr>
        <p:spPr>
          <a:xfrm>
            <a:off x="338026" y="6075641"/>
            <a:ext cx="8421141" cy="369332"/>
          </a:xfrm>
          <a:prstGeom prst="rect">
            <a:avLst/>
          </a:prstGeom>
          <a:noFill/>
        </p:spPr>
        <p:txBody>
          <a:bodyPr wrap="square" rtlCol="0">
            <a:spAutoFit/>
          </a:bodyPr>
          <a:lstStyle/>
          <a:p>
            <a:r>
              <a:rPr lang="en-US">
                <a:sym typeface="Wingdings" panose="05000000000000000000" pitchFamily="2" charset="2"/>
              </a:rPr>
              <a:t> </a:t>
            </a:r>
            <a:r>
              <a:rPr lang="en-US">
                <a:latin typeface="Times New Roman" panose="02020603050405020304" pitchFamily="18" charset="0"/>
                <a:cs typeface="Times New Roman" panose="02020603050405020304" pitchFamily="18" charset="0"/>
                <a:sym typeface="Wingdings" panose="05000000000000000000" pitchFamily="2" charset="2"/>
              </a:rPr>
              <a:t>Cả 3 nhà máy đều có nhu cầu truy cập Internet</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3231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8</a:t>
            </a:fld>
            <a:endParaRPr kumimoji="1" lang="ja-JP" altLang="en-US">
              <a:latin typeface="+mn-lt"/>
            </a:endParaRPr>
          </a:p>
        </p:txBody>
      </p:sp>
      <p:sp>
        <p:nvSpPr>
          <p:cNvPr id="3" name="TextBox 2">
            <a:extLst>
              <a:ext uri="{FF2B5EF4-FFF2-40B4-BE49-F238E27FC236}">
                <a16:creationId xmlns:a16="http://schemas.microsoft.com/office/drawing/2014/main" id="{AB8A9502-D629-5EE6-2395-D1818F6873D4}"/>
              </a:ext>
            </a:extLst>
          </p:cNvPr>
          <p:cNvSpPr txBox="1"/>
          <p:nvPr/>
        </p:nvSpPr>
        <p:spPr>
          <a:xfrm>
            <a:off x="228117" y="857014"/>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2) Các máy tính sử dụng dữ liệu, phần mềm nội bộ của công ty. </a:t>
            </a:r>
          </a:p>
        </p:txBody>
      </p:sp>
      <p:pic>
        <p:nvPicPr>
          <p:cNvPr id="10" name="Picture 9">
            <a:extLst>
              <a:ext uri="{FF2B5EF4-FFF2-40B4-BE49-F238E27FC236}">
                <a16:creationId xmlns:a16="http://schemas.microsoft.com/office/drawing/2014/main" id="{89E5E7E0-3E2F-3DB7-8D72-D67914E7E918}"/>
              </a:ext>
            </a:extLst>
          </p:cNvPr>
          <p:cNvPicPr>
            <a:picLocks noChangeAspect="1"/>
          </p:cNvPicPr>
          <p:nvPr/>
        </p:nvPicPr>
        <p:blipFill>
          <a:blip r:embed="rId3"/>
          <a:stretch>
            <a:fillRect/>
          </a:stretch>
        </p:blipFill>
        <p:spPr>
          <a:xfrm>
            <a:off x="395535" y="1304764"/>
            <a:ext cx="7111587" cy="3348372"/>
          </a:xfrm>
          <a:prstGeom prst="rect">
            <a:avLst/>
          </a:prstGeom>
        </p:spPr>
      </p:pic>
      <p:pic>
        <p:nvPicPr>
          <p:cNvPr id="20" name="Picture 19">
            <a:extLst>
              <a:ext uri="{FF2B5EF4-FFF2-40B4-BE49-F238E27FC236}">
                <a16:creationId xmlns:a16="http://schemas.microsoft.com/office/drawing/2014/main" id="{4AF86BA8-37F4-395B-454E-27BBBC51091C}"/>
              </a:ext>
            </a:extLst>
          </p:cNvPr>
          <p:cNvPicPr>
            <a:picLocks noChangeAspect="1"/>
          </p:cNvPicPr>
          <p:nvPr/>
        </p:nvPicPr>
        <p:blipFill>
          <a:blip r:embed="rId4"/>
          <a:stretch>
            <a:fillRect/>
          </a:stretch>
        </p:blipFill>
        <p:spPr>
          <a:xfrm>
            <a:off x="1673932" y="1469082"/>
            <a:ext cx="1844588" cy="410738"/>
          </a:xfrm>
          <a:prstGeom prst="rect">
            <a:avLst/>
          </a:prstGeom>
        </p:spPr>
      </p:pic>
      <p:cxnSp>
        <p:nvCxnSpPr>
          <p:cNvPr id="22" name="Straight Arrow Connector 21">
            <a:extLst>
              <a:ext uri="{FF2B5EF4-FFF2-40B4-BE49-F238E27FC236}">
                <a16:creationId xmlns:a16="http://schemas.microsoft.com/office/drawing/2014/main" id="{7E7E9D0B-3B32-4D3B-4039-C52085E984C7}"/>
              </a:ext>
            </a:extLst>
          </p:cNvPr>
          <p:cNvCxnSpPr/>
          <p:nvPr/>
        </p:nvCxnSpPr>
        <p:spPr>
          <a:xfrm flipV="1">
            <a:off x="1331640" y="1879820"/>
            <a:ext cx="648072" cy="1261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8C477F35-D73D-171D-BC3E-10C8AAD3A3CF}"/>
              </a:ext>
            </a:extLst>
          </p:cNvPr>
          <p:cNvPicPr>
            <a:picLocks noChangeAspect="1"/>
          </p:cNvPicPr>
          <p:nvPr/>
        </p:nvPicPr>
        <p:blipFill>
          <a:blip r:embed="rId5"/>
          <a:stretch>
            <a:fillRect/>
          </a:stretch>
        </p:blipFill>
        <p:spPr>
          <a:xfrm>
            <a:off x="7440179" y="2459362"/>
            <a:ext cx="1672695" cy="519588"/>
          </a:xfrm>
          <a:prstGeom prst="rect">
            <a:avLst/>
          </a:prstGeom>
        </p:spPr>
      </p:pic>
      <p:cxnSp>
        <p:nvCxnSpPr>
          <p:cNvPr id="26" name="Straight Arrow Connector 25">
            <a:extLst>
              <a:ext uri="{FF2B5EF4-FFF2-40B4-BE49-F238E27FC236}">
                <a16:creationId xmlns:a16="http://schemas.microsoft.com/office/drawing/2014/main" id="{A903E110-7164-5389-3253-E0C49AD89573}"/>
              </a:ext>
            </a:extLst>
          </p:cNvPr>
          <p:cNvCxnSpPr>
            <a:cxnSpLocks/>
          </p:cNvCxnSpPr>
          <p:nvPr/>
        </p:nvCxnSpPr>
        <p:spPr>
          <a:xfrm flipV="1">
            <a:off x="6912260" y="2719156"/>
            <a:ext cx="594862" cy="617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DDCC5A12-142F-AA89-B25D-B71B2F94A329}"/>
              </a:ext>
            </a:extLst>
          </p:cNvPr>
          <p:cNvPicPr>
            <a:picLocks noChangeAspect="1"/>
          </p:cNvPicPr>
          <p:nvPr/>
        </p:nvPicPr>
        <p:blipFill>
          <a:blip r:embed="rId6"/>
          <a:stretch>
            <a:fillRect/>
          </a:stretch>
        </p:blipFill>
        <p:spPr>
          <a:xfrm>
            <a:off x="2123728" y="4817454"/>
            <a:ext cx="4243304" cy="486386"/>
          </a:xfrm>
          <a:prstGeom prst="rect">
            <a:avLst/>
          </a:prstGeom>
        </p:spPr>
      </p:pic>
      <p:cxnSp>
        <p:nvCxnSpPr>
          <p:cNvPr id="33" name="Straight Arrow Connector 32">
            <a:extLst>
              <a:ext uri="{FF2B5EF4-FFF2-40B4-BE49-F238E27FC236}">
                <a16:creationId xmlns:a16="http://schemas.microsoft.com/office/drawing/2014/main" id="{F77925A4-E77C-E13B-EF25-479A94A2C6FB}"/>
              </a:ext>
            </a:extLst>
          </p:cNvPr>
          <p:cNvCxnSpPr>
            <a:cxnSpLocks/>
          </p:cNvCxnSpPr>
          <p:nvPr/>
        </p:nvCxnSpPr>
        <p:spPr>
          <a:xfrm>
            <a:off x="4716016" y="4149080"/>
            <a:ext cx="0" cy="668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Rounded Corners 36">
            <a:extLst>
              <a:ext uri="{FF2B5EF4-FFF2-40B4-BE49-F238E27FC236}">
                <a16:creationId xmlns:a16="http://schemas.microsoft.com/office/drawing/2014/main" id="{15403AEF-6D3A-FBAF-FE5E-BCE9A1DD828E}"/>
              </a:ext>
            </a:extLst>
          </p:cNvPr>
          <p:cNvSpPr/>
          <p:nvPr/>
        </p:nvSpPr>
        <p:spPr>
          <a:xfrm>
            <a:off x="5719766" y="3400802"/>
            <a:ext cx="3316732"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Thực tế các máy tính bên DD2 truy cập dữ liệu DD1(ổ K) thông qua hạ tầng mạng của nhà mạng VNPT bằng kỹ thuật VPN do Phòng IT cấu hình.</a:t>
            </a:r>
          </a:p>
        </p:txBody>
      </p:sp>
      <p:sp>
        <p:nvSpPr>
          <p:cNvPr id="39" name="Rectangle: Rounded Corners 38">
            <a:extLst>
              <a:ext uri="{FF2B5EF4-FFF2-40B4-BE49-F238E27FC236}">
                <a16:creationId xmlns:a16="http://schemas.microsoft.com/office/drawing/2014/main" id="{0EC1E6BB-D4FD-BA92-50B3-B55496D1BF03}"/>
              </a:ext>
            </a:extLst>
          </p:cNvPr>
          <p:cNvSpPr/>
          <p:nvPr/>
        </p:nvSpPr>
        <p:spPr>
          <a:xfrm>
            <a:off x="564390" y="5469961"/>
            <a:ext cx="8041860"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Máy tính bên DDK truy cập dữ liệu DD1(ổ K), DD2(ổ X) cũng  thông qua hạ tầng mạng của nhà mạng VNPT bằng kỹ thuật VPN do Phòng IT cấu hình. Tương tự với trường hợp nhà máy bên DD1 truy cập dữ liệu bên DD2(ổ X).</a:t>
            </a:r>
          </a:p>
        </p:txBody>
      </p:sp>
      <p:sp>
        <p:nvSpPr>
          <p:cNvPr id="40" name="TextBox 39">
            <a:extLst>
              <a:ext uri="{FF2B5EF4-FFF2-40B4-BE49-F238E27FC236}">
                <a16:creationId xmlns:a16="http://schemas.microsoft.com/office/drawing/2014/main" id="{4F7ED068-95DA-3D09-32FD-720C1D2D9C1E}"/>
              </a:ext>
            </a:extLst>
          </p:cNvPr>
          <p:cNvSpPr txBox="1"/>
          <p:nvPr/>
        </p:nvSpPr>
        <p:spPr>
          <a:xfrm>
            <a:off x="241437" y="1085421"/>
            <a:ext cx="8687766"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2.1) Các máy tính của các nhà máy sử dụng dữ liệu nội bộ của nhau:  </a:t>
            </a:r>
          </a:p>
        </p:txBody>
      </p:sp>
    </p:spTree>
    <p:extLst>
      <p:ext uri="{BB962C8B-B14F-4D97-AF65-F5344CB8AC3E}">
        <p14:creationId xmlns:p14="http://schemas.microsoft.com/office/powerpoint/2010/main" val="316484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9</a:t>
            </a:fld>
            <a:endParaRPr kumimoji="1" lang="ja-JP" altLang="en-US">
              <a:latin typeface="+mn-lt"/>
            </a:endParaRPr>
          </a:p>
        </p:txBody>
      </p:sp>
      <p:sp>
        <p:nvSpPr>
          <p:cNvPr id="3" name="TextBox 2">
            <a:extLst>
              <a:ext uri="{FF2B5EF4-FFF2-40B4-BE49-F238E27FC236}">
                <a16:creationId xmlns:a16="http://schemas.microsoft.com/office/drawing/2014/main" id="{AB8A9502-D629-5EE6-2395-D1818F6873D4}"/>
              </a:ext>
            </a:extLst>
          </p:cNvPr>
          <p:cNvSpPr txBox="1"/>
          <p:nvPr/>
        </p:nvSpPr>
        <p:spPr>
          <a:xfrm>
            <a:off x="228117" y="857014"/>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2) Các máy tính sử dụng dữ liệu, phần mềm nội bộ của công ty. </a:t>
            </a:r>
          </a:p>
        </p:txBody>
      </p:sp>
      <p:pic>
        <p:nvPicPr>
          <p:cNvPr id="10" name="Picture 9">
            <a:extLst>
              <a:ext uri="{FF2B5EF4-FFF2-40B4-BE49-F238E27FC236}">
                <a16:creationId xmlns:a16="http://schemas.microsoft.com/office/drawing/2014/main" id="{89E5E7E0-3E2F-3DB7-8D72-D67914E7E918}"/>
              </a:ext>
            </a:extLst>
          </p:cNvPr>
          <p:cNvPicPr>
            <a:picLocks noChangeAspect="1"/>
          </p:cNvPicPr>
          <p:nvPr/>
        </p:nvPicPr>
        <p:blipFill>
          <a:blip r:embed="rId3"/>
          <a:stretch>
            <a:fillRect/>
          </a:stretch>
        </p:blipFill>
        <p:spPr>
          <a:xfrm>
            <a:off x="395535" y="1304764"/>
            <a:ext cx="7111587" cy="3348372"/>
          </a:xfrm>
          <a:prstGeom prst="rect">
            <a:avLst/>
          </a:prstGeom>
        </p:spPr>
      </p:pic>
      <p:pic>
        <p:nvPicPr>
          <p:cNvPr id="24" name="Picture 23">
            <a:extLst>
              <a:ext uri="{FF2B5EF4-FFF2-40B4-BE49-F238E27FC236}">
                <a16:creationId xmlns:a16="http://schemas.microsoft.com/office/drawing/2014/main" id="{8C477F35-D73D-171D-BC3E-10C8AAD3A3CF}"/>
              </a:ext>
            </a:extLst>
          </p:cNvPr>
          <p:cNvPicPr>
            <a:picLocks noChangeAspect="1"/>
          </p:cNvPicPr>
          <p:nvPr/>
        </p:nvPicPr>
        <p:blipFill>
          <a:blip r:embed="rId4"/>
          <a:stretch>
            <a:fillRect/>
          </a:stretch>
        </p:blipFill>
        <p:spPr>
          <a:xfrm>
            <a:off x="7440179" y="2459362"/>
            <a:ext cx="1672695" cy="519588"/>
          </a:xfrm>
          <a:prstGeom prst="rect">
            <a:avLst/>
          </a:prstGeom>
        </p:spPr>
      </p:pic>
      <p:cxnSp>
        <p:nvCxnSpPr>
          <p:cNvPr id="26" name="Straight Arrow Connector 25">
            <a:extLst>
              <a:ext uri="{FF2B5EF4-FFF2-40B4-BE49-F238E27FC236}">
                <a16:creationId xmlns:a16="http://schemas.microsoft.com/office/drawing/2014/main" id="{A903E110-7164-5389-3253-E0C49AD89573}"/>
              </a:ext>
            </a:extLst>
          </p:cNvPr>
          <p:cNvCxnSpPr>
            <a:cxnSpLocks/>
          </p:cNvCxnSpPr>
          <p:nvPr/>
        </p:nvCxnSpPr>
        <p:spPr>
          <a:xfrm flipV="1">
            <a:off x="6912260" y="2719156"/>
            <a:ext cx="594862" cy="617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DDCC5A12-142F-AA89-B25D-B71B2F94A329}"/>
              </a:ext>
            </a:extLst>
          </p:cNvPr>
          <p:cNvPicPr>
            <a:picLocks noChangeAspect="1"/>
          </p:cNvPicPr>
          <p:nvPr/>
        </p:nvPicPr>
        <p:blipFill>
          <a:blip r:embed="rId5"/>
          <a:stretch>
            <a:fillRect/>
          </a:stretch>
        </p:blipFill>
        <p:spPr>
          <a:xfrm>
            <a:off x="2123728" y="4817454"/>
            <a:ext cx="4243304" cy="486386"/>
          </a:xfrm>
          <a:prstGeom prst="rect">
            <a:avLst/>
          </a:prstGeom>
        </p:spPr>
      </p:pic>
      <p:cxnSp>
        <p:nvCxnSpPr>
          <p:cNvPr id="33" name="Straight Arrow Connector 32">
            <a:extLst>
              <a:ext uri="{FF2B5EF4-FFF2-40B4-BE49-F238E27FC236}">
                <a16:creationId xmlns:a16="http://schemas.microsoft.com/office/drawing/2014/main" id="{F77925A4-E77C-E13B-EF25-479A94A2C6FB}"/>
              </a:ext>
            </a:extLst>
          </p:cNvPr>
          <p:cNvCxnSpPr>
            <a:cxnSpLocks/>
          </p:cNvCxnSpPr>
          <p:nvPr/>
        </p:nvCxnSpPr>
        <p:spPr>
          <a:xfrm>
            <a:off x="4716016" y="4149080"/>
            <a:ext cx="0" cy="668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Rounded Corners 36">
            <a:extLst>
              <a:ext uri="{FF2B5EF4-FFF2-40B4-BE49-F238E27FC236}">
                <a16:creationId xmlns:a16="http://schemas.microsoft.com/office/drawing/2014/main" id="{15403AEF-6D3A-FBAF-FE5E-BCE9A1DD828E}"/>
              </a:ext>
            </a:extLst>
          </p:cNvPr>
          <p:cNvSpPr/>
          <p:nvPr/>
        </p:nvSpPr>
        <p:spPr>
          <a:xfrm>
            <a:off x="5719766" y="3400802"/>
            <a:ext cx="3316732"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Thực tế các máy tính bên DD2 truy cập dữ liệu DD1(ổ K) thông qua hạ tầng mạng của nhà mạng VNPT bằng kỹ thuật VPN do Phòng IT cấu hình.</a:t>
            </a:r>
          </a:p>
        </p:txBody>
      </p:sp>
      <p:sp>
        <p:nvSpPr>
          <p:cNvPr id="39" name="Rectangle: Rounded Corners 38">
            <a:extLst>
              <a:ext uri="{FF2B5EF4-FFF2-40B4-BE49-F238E27FC236}">
                <a16:creationId xmlns:a16="http://schemas.microsoft.com/office/drawing/2014/main" id="{0EC1E6BB-D4FD-BA92-50B3-B55496D1BF03}"/>
              </a:ext>
            </a:extLst>
          </p:cNvPr>
          <p:cNvSpPr/>
          <p:nvPr/>
        </p:nvSpPr>
        <p:spPr>
          <a:xfrm>
            <a:off x="564390" y="5469961"/>
            <a:ext cx="8041860"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Máy tính bên DDK truy cập dữ liệu DD1(ổ K), DD2(ổ X) cũng  thông qua hạ tầng mạng của nhà mạng VNPT bằng kỹ thuật VPN do Phòng IT cấu hình. Tương tự với trường hợp nhà máy bên DD1 truy cập dữ liệu bên DD2(ổ X).</a:t>
            </a:r>
          </a:p>
        </p:txBody>
      </p:sp>
      <p:sp>
        <p:nvSpPr>
          <p:cNvPr id="40" name="TextBox 39">
            <a:extLst>
              <a:ext uri="{FF2B5EF4-FFF2-40B4-BE49-F238E27FC236}">
                <a16:creationId xmlns:a16="http://schemas.microsoft.com/office/drawing/2014/main" id="{4F7ED068-95DA-3D09-32FD-720C1D2D9C1E}"/>
              </a:ext>
            </a:extLst>
          </p:cNvPr>
          <p:cNvSpPr txBox="1"/>
          <p:nvPr/>
        </p:nvSpPr>
        <p:spPr>
          <a:xfrm>
            <a:off x="241437" y="1085421"/>
            <a:ext cx="8687766"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2.2) Các máy tính sử dụng hệ thống phần mềm nội bộ: </a:t>
            </a:r>
          </a:p>
        </p:txBody>
      </p:sp>
    </p:spTree>
    <p:extLst>
      <p:ext uri="{BB962C8B-B14F-4D97-AF65-F5344CB8AC3E}">
        <p14:creationId xmlns:p14="http://schemas.microsoft.com/office/powerpoint/2010/main" val="3572825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10</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142927"/>
            <a:ext cx="8424936" cy="1169551"/>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Công ty Đông Dương đang sử dụng 3 đường mạng riêng biệt được cung cấp bởi nhà mạng VPNT cho hệ thống máy tính của 3 nhà máy với  mục đích chính:</a:t>
            </a:r>
          </a:p>
          <a:p>
            <a:r>
              <a:rPr lang="en-US" sz="1400">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a:p>
            <a:r>
              <a:rPr lang="en-US" sz="1400">
                <a:latin typeface="Times New Roman" panose="02020603050405020304" pitchFamily="18" charset="0"/>
                <a:cs typeface="Times New Roman" panose="02020603050405020304" pitchFamily="18" charset="0"/>
              </a:rPr>
              <a:t>2) Các máy tính có thể kết nối cũng như sử dụng được dữ liệu nội bộ, hệ thống quản lý sản xuất (DProS, DProS2), hệ thống quản lý nhân sự (HRM), hệ thống quản lý kho ……</a:t>
            </a:r>
          </a:p>
        </p:txBody>
      </p:sp>
    </p:spTree>
    <p:extLst>
      <p:ext uri="{BB962C8B-B14F-4D97-AF65-F5344CB8AC3E}">
        <p14:creationId xmlns:p14="http://schemas.microsoft.com/office/powerpoint/2010/main" val="410837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11</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142927"/>
            <a:ext cx="8424936" cy="1169551"/>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Công ty Đông Dương đang sử dụng 3 đường mạng riêng biệt được cung cấp bởi nhà mạng VPNT cho hệ thống máy tính của 3 nhà máy với  mục đích chính:</a:t>
            </a:r>
          </a:p>
          <a:p>
            <a:r>
              <a:rPr lang="en-US" sz="1400">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a:p>
            <a:r>
              <a:rPr lang="en-US" sz="1400">
                <a:latin typeface="Times New Roman" panose="02020603050405020304" pitchFamily="18" charset="0"/>
                <a:cs typeface="Times New Roman" panose="02020603050405020304" pitchFamily="18" charset="0"/>
              </a:rPr>
              <a:t>2) Các máy tính có thể kết nối cũng như sử dụng được dữ liệu nội bộ, hệ thống quản lý sản xuất (DProS, DProS2), hệ thống quản lý nhân sự (HRM), hệ thống quản lý kho ……</a:t>
            </a:r>
          </a:p>
        </p:txBody>
      </p:sp>
    </p:spTree>
    <p:extLst>
      <p:ext uri="{BB962C8B-B14F-4D97-AF65-F5344CB8AC3E}">
        <p14:creationId xmlns:p14="http://schemas.microsoft.com/office/powerpoint/2010/main" val="414728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12</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1124743"/>
            <a:ext cx="5472608" cy="3331903"/>
          </a:xfrm>
          <a:prstGeom prst="rect">
            <a:avLst/>
          </a:prstGeom>
        </p:spPr>
      </p:pic>
      <p:sp>
        <p:nvSpPr>
          <p:cNvPr id="3" name="TextBox 2">
            <a:extLst>
              <a:ext uri="{FF2B5EF4-FFF2-40B4-BE49-F238E27FC236}">
                <a16:creationId xmlns:a16="http://schemas.microsoft.com/office/drawing/2014/main" id="{A4CE9D7D-E9A7-F144-2464-6FCFA78452DD}"/>
              </a:ext>
            </a:extLst>
          </p:cNvPr>
          <p:cNvSpPr txBox="1"/>
          <p:nvPr/>
        </p:nvSpPr>
        <p:spPr>
          <a:xfrm>
            <a:off x="608559" y="4550139"/>
            <a:ext cx="720080"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Ví dụ:</a:t>
            </a:r>
          </a:p>
        </p:txBody>
      </p:sp>
    </p:spTree>
    <p:extLst>
      <p:ext uri="{BB962C8B-B14F-4D97-AF65-F5344CB8AC3E}">
        <p14:creationId xmlns:p14="http://schemas.microsoft.com/office/powerpoint/2010/main" val="346925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13</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2726240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14</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50635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15</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1199505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16</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2203903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17</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1371432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2D8002D-B5B0-4BAC-B1F6-782DDCCE6D9C}" type="slidenum">
              <a:rPr kumimoji="1" lang="ja-JP" altLang="en-US" smtClean="0"/>
              <a:pPr/>
              <a:t>18</a:t>
            </a:fld>
            <a:endParaRPr kumimoji="1" lang="ja-JP" altLang="en-US"/>
          </a:p>
        </p:txBody>
      </p:sp>
      <p:sp>
        <p:nvSpPr>
          <p:cNvPr id="4" name="Content Placeholder 3"/>
          <p:cNvSpPr>
            <a:spLocks noGrp="1"/>
          </p:cNvSpPr>
          <p:nvPr>
            <p:ph idx="1"/>
          </p:nvPr>
        </p:nvSpPr>
        <p:spPr>
          <a:xfrm>
            <a:off x="457200" y="1244600"/>
            <a:ext cx="7787208" cy="4344640"/>
          </a:xfrm>
        </p:spPr>
        <p:txBody>
          <a:bodyPr anchor="ctr"/>
          <a:lstStyle/>
          <a:p>
            <a:pPr marL="0" indent="0" algn="ctr">
              <a:buNone/>
            </a:pPr>
            <a:r>
              <a:rPr lang="en-US" sz="4800" b="1">
                <a:solidFill>
                  <a:schemeClr val="tx1">
                    <a:lumMod val="50000"/>
                    <a:lumOff val="50000"/>
                  </a:schemeClr>
                </a:solidFill>
              </a:rPr>
              <a:t>Thank You!</a:t>
            </a:r>
          </a:p>
        </p:txBody>
      </p:sp>
      <p:sp>
        <p:nvSpPr>
          <p:cNvPr id="5" name="Rectangle 4"/>
          <p:cNvSpPr/>
          <p:nvPr/>
        </p:nvSpPr>
        <p:spPr>
          <a:xfrm>
            <a:off x="4139952" y="6165304"/>
            <a:ext cx="4392488"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945A5"/>
                </a:solidFill>
              </a:rPr>
              <a:t>Web: http://dongduongpla.com.vn</a:t>
            </a:r>
          </a:p>
        </p:txBody>
      </p:sp>
    </p:spTree>
    <p:extLst>
      <p:ext uri="{BB962C8B-B14F-4D97-AF65-F5344CB8AC3E}">
        <p14:creationId xmlns:p14="http://schemas.microsoft.com/office/powerpoint/2010/main" val="288560105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7563</TotalTime>
  <Words>1472</Words>
  <Application>Microsoft Office PowerPoint</Application>
  <PresentationFormat>On-screen Show (4:3)</PresentationFormat>
  <Paragraphs>114</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meiryou UI </vt:lpstr>
      <vt:lpstr>Times New Roman</vt:lpstr>
      <vt:lpstr>Wingdings</vt:lpstr>
      <vt:lpstr>Office テーマ</vt:lpstr>
      <vt:lpstr>CÔNG TY TNHH  NHỰA VÀ CƠ KHÍ ĐÔNG DƯƠNG</vt:lpstr>
      <vt:lpstr>Mô hình mạng hiện tại của công ty( bản thiết kế)</vt:lpstr>
      <vt:lpstr> I) THỰC TRẠNG MÔ HÌNH MẠNG CỦA CÔNG TY</vt:lpstr>
      <vt:lpstr>PowerPoint Presentation</vt:lpstr>
      <vt:lpstr>PowerPoint Presentation</vt:lpstr>
      <vt:lpstr>PowerPoint Presentation</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Morishita, Takayuki (BIL-MIS) 森下 孝之</dc:creator>
  <cp:lastModifiedBy>Dang Van Doan</cp:lastModifiedBy>
  <cp:revision>547</cp:revision>
  <cp:lastPrinted>2017-09-10T08:22:42Z</cp:lastPrinted>
  <dcterms:created xsi:type="dcterms:W3CDTF">2013-06-18T07:30:00Z</dcterms:created>
  <dcterms:modified xsi:type="dcterms:W3CDTF">2025-10-23T06:41:29Z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1033-10.2.0.5934</vt:lpwstr>
  </property>
</Properties>
</file>